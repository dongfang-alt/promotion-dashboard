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56032"/>
            <a:ext cx="1828800" cy="2743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5394960"/>
            <a:ext cx="12192000" cy="1554480"/>
          </a:xfrm>
          <a:prstGeom prst="rect">
            <a:avLst/>
          </a:prstGeom>
          <a:solidFill>
            <a:srgbClr val="6BD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1463040"/>
            <a:ext cx="50800" cy="1828800"/>
          </a:xfrm>
          <a:prstGeom prst="rect">
            <a:avLst/>
          </a:prstGeom>
          <a:solidFill>
            <a:srgbClr val="6BD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46304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1A1A2E"/>
                </a:solidFill>
                <a:latin typeface="MiSans Semibold"/>
              </a:defRPr>
            </a:pPr>
            <a:r>
              <a:t>2026 推广年中会议汇报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4884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4B5563"/>
                </a:solidFill>
                <a:latin typeface="MiSans Medium"/>
              </a:defRPr>
            </a:pPr>
            <a:r>
              <a:t>E-commerce Promotion Mid-Year Review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2514600"/>
            <a:ext cx="4572000" cy="19050"/>
          </a:xfrm>
          <a:prstGeom prst="rect">
            <a:avLst/>
          </a:prstGeom>
          <a:solidFill>
            <a:srgbClr val="6BD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5532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MiSans Medium"/>
              </a:defRPr>
            </a:pPr>
            <a:r>
              <a:t>汇报人：东方  |  部门：国内营销中心  |  汇报时间：2026.07.23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89788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MiSans Semibold"/>
              </a:defRPr>
            </a:pPr>
            <a:r>
              <a:t>从投放执行到增长经营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92608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6000" b="1">
                <a:solidFill>
                  <a:srgbClr val="B5EED7"/>
                </a:solidFill>
                <a:latin typeface="MiSans Semibold"/>
              </a:defRPr>
            </a:pPr>
            <a:r>
              <a:t>H1→H2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56032"/>
            <a:ext cx="1828800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3716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6BDCB0"/>
                </a:solidFill>
                <a:latin typeface="MiSans Semibold"/>
              </a:defRPr>
            </a:pPr>
            <a:r>
              <a:t>Mid-Year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A1A2E"/>
                </a:solidFill>
                <a:latin typeface="MiSans Semibold"/>
              </a:defRPr>
            </a:pPr>
            <a:r>
              <a:t>年中汇报结构 · 目录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365760"/>
            <a:ext cx="1371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9CA3AF"/>
                </a:solidFill>
                <a:latin typeface="MiSans Medium"/>
              </a:defRPr>
            </a:pPr>
            <a:r>
              <a:t>CONTENTS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423160"/>
            <a:ext cx="5029200" cy="15544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5E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6320" y="26060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6BDCB0"/>
                </a:solidFill>
                <a:latin typeface="MiSans Semibold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2606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A1A2E"/>
                </a:solidFill>
                <a:latin typeface="MiSans Semibold"/>
              </a:defRPr>
            </a:pPr>
            <a:r>
              <a:t>上半年总结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2971800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6BDCB0"/>
                </a:solidFill>
                <a:latin typeface="MiSans Medium"/>
              </a:defRPr>
            </a:pPr>
            <a:r>
              <a:t>H1 业绩复盘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3246120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9CA3AF"/>
                </a:solidFill>
                <a:latin typeface="MiSans Medium"/>
              </a:defRPr>
            </a:pPr>
            <a:r>
              <a:t>核心指标 | 关键成果 | 问题复盘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0" y="2423160"/>
            <a:ext cx="5029200" cy="15544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5E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26060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6BDCB0"/>
                </a:solidFill>
                <a:latin typeface="MiSans Semibold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2606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A1A2E"/>
                </a:solidFill>
                <a:latin typeface="MiSans Semibold"/>
              </a:defRPr>
            </a:pPr>
            <a:r>
              <a:t>下半年规划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2971800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6BDCB0"/>
                </a:solidFill>
                <a:latin typeface="MiSans Medium"/>
              </a:defRPr>
            </a:pPr>
            <a:r>
              <a:t>H2 战略部署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3246120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9CA3AF"/>
                </a:solidFill>
                <a:latin typeface="MiSans Medium"/>
              </a:defRPr>
            </a:pPr>
            <a:r>
              <a:t>业务规划 | 资源投入 | 里程碑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251960"/>
            <a:ext cx="10424160" cy="10972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5E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6320" y="44348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6BDCB0"/>
                </a:solidFill>
                <a:latin typeface="MiSans Semibold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44348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A1A2E"/>
                </a:solidFill>
                <a:latin typeface="MiSans Semibold"/>
              </a:defRPr>
            </a:pPr>
            <a:r>
              <a:t>组织升级部分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7360" y="480060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6BDCB0"/>
                </a:solidFill>
                <a:latin typeface="MiSans Medium"/>
              </a:defRPr>
            </a:pPr>
            <a:r>
              <a:t>Voice of Team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5074920"/>
            <a:ext cx="8229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9CA3AF"/>
                </a:solidFill>
                <a:latin typeface="MiSans Medium"/>
              </a:defRPr>
            </a:pPr>
            <a:r>
              <a:t>团队声音 | 改进建议 | 协同机制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56032"/>
            <a:ext cx="1828800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72400" y="91440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8000" b="1">
                <a:solidFill>
                  <a:srgbClr val="B5EED7"/>
                </a:solidFill>
                <a:latin typeface="MiSans Semibold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6BDCB0"/>
                </a:solidFill>
                <a:latin typeface="MiSans Semibold"/>
              </a:defRPr>
            </a:pPr>
            <a:r>
              <a:t>H1 Performance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A1A2E"/>
                </a:solidFill>
                <a:latin typeface="MiSans Semibold"/>
              </a:defRPr>
            </a:pPr>
            <a:r>
              <a:t>上半年总结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23160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DCB0"/>
                </a:solidFill>
                <a:latin typeface="MiSans Medium"/>
              </a:defRPr>
            </a:pPr>
            <a:r>
              <a:t>消耗+30.3%，ROI同比+39.3%——钱花得更值了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86512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6BDCB0"/>
                </a:solidFill>
                <a:latin typeface="MiSans Semibold"/>
              </a:defRPr>
            </a:pPr>
            <a:r>
              <a:t>天猫旗舰店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11680" y="2788920"/>
            <a:ext cx="1051560" cy="56692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5E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87880" y="2827020"/>
            <a:ext cx="924560" cy="12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9CA3AF"/>
                </a:solidFill>
                <a:latin typeface="MiSans Medium"/>
              </a:defRPr>
            </a:pPr>
            <a:r>
              <a:t>消耗同比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87880" y="2992120"/>
            <a:ext cx="92456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6BDCB0"/>
                </a:solidFill>
                <a:latin typeface="MiSans Semibold"/>
              </a:defRPr>
            </a:pPr>
            <a:r>
              <a:t>+18.4%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01340" y="2788920"/>
            <a:ext cx="1051560" cy="56692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5E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77540" y="2827020"/>
            <a:ext cx="924560" cy="12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9CA3AF"/>
                </a:solidFill>
                <a:latin typeface="MiSans Medium"/>
              </a:defRPr>
            </a:pPr>
            <a:r>
              <a:t>消耗环比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77540" y="2992120"/>
            <a:ext cx="92456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0000"/>
                </a:solidFill>
                <a:latin typeface="MiSans Semibold"/>
              </a:defRPr>
            </a:pPr>
            <a:r>
              <a:t>-4.9%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91000" y="2788920"/>
            <a:ext cx="1051560" cy="56692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5E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67200" y="2827020"/>
            <a:ext cx="924560" cy="12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9CA3AF"/>
                </a:solidFill>
                <a:latin typeface="MiSans Medium"/>
              </a:defRPr>
            </a:pPr>
            <a:r>
              <a:t>ROI同比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67200" y="2992120"/>
            <a:ext cx="92456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6BDCB0"/>
                </a:solidFill>
                <a:latin typeface="MiSans Semibold"/>
              </a:defRPr>
            </a:pPr>
            <a:r>
              <a:t>+21.2%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280660" y="2788920"/>
            <a:ext cx="1051560" cy="56692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5E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56860" y="2827020"/>
            <a:ext cx="924560" cy="12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9CA3AF"/>
                </a:solidFill>
                <a:latin typeface="MiSans Medium"/>
              </a:defRPr>
            </a:pPr>
            <a:r>
              <a:t>ROI环比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56860" y="2992120"/>
            <a:ext cx="92456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6BDCB0"/>
                </a:solidFill>
                <a:latin typeface="MiSans Semibold"/>
              </a:defRPr>
            </a:pPr>
            <a:r>
              <a:t>+9.5%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70320" y="2788920"/>
            <a:ext cx="1051560" cy="56692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5E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2827020"/>
            <a:ext cx="924560" cy="12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9CA3AF"/>
                </a:solidFill>
                <a:latin typeface="MiSans Medium"/>
              </a:defRPr>
            </a:pPr>
            <a:r>
              <a:t>费比同比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2992120"/>
            <a:ext cx="92456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D97706"/>
                </a:solidFill>
                <a:latin typeface="MiSans Semibold"/>
              </a:defRPr>
            </a:pPr>
            <a:r>
              <a:t>+2.6pt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59980" y="2788920"/>
            <a:ext cx="1051560" cy="56692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5E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36180" y="2827020"/>
            <a:ext cx="924560" cy="12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9CA3AF"/>
                </a:solidFill>
                <a:latin typeface="MiSans Medium"/>
              </a:defRPr>
            </a:pPr>
            <a:r>
              <a:t>费比环比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36180" y="2992120"/>
            <a:ext cx="92456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6BDCB0"/>
                </a:solidFill>
                <a:latin typeface="MiSans Semibold"/>
              </a:defRPr>
            </a:pPr>
            <a:r>
              <a:t>-0.9pt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549640" y="2788920"/>
            <a:ext cx="1051560" cy="56692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5E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25840" y="2827020"/>
            <a:ext cx="924560" cy="12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9CA3AF"/>
                </a:solidFill>
                <a:latin typeface="MiSans Medium"/>
              </a:defRPr>
            </a:pPr>
            <a:r>
              <a:t>销售同比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25840" y="2992120"/>
            <a:ext cx="92456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6BDCB0"/>
                </a:solidFill>
                <a:latin typeface="MiSans Semibold"/>
              </a:defRPr>
            </a:pPr>
            <a:r>
              <a:t>+10.0%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639300" y="2788920"/>
            <a:ext cx="1051560" cy="56692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5E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715500" y="2827020"/>
            <a:ext cx="924560" cy="12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9CA3AF"/>
                </a:solidFill>
                <a:latin typeface="MiSans Medium"/>
              </a:defRPr>
            </a:pPr>
            <a:r>
              <a:t>销售环比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15500" y="2992120"/>
            <a:ext cx="92456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6BDCB0"/>
                </a:solidFill>
                <a:latin typeface="MiSans Semibold"/>
              </a:defRPr>
            </a:pPr>
            <a:r>
              <a:t>+4.4%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359664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6BDCB0"/>
                </a:solidFill>
                <a:latin typeface="MiSans Semibold"/>
              </a:defRPr>
            </a:pPr>
            <a:r>
              <a:t>数码旗舰店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011680" y="3520440"/>
            <a:ext cx="1051560" cy="56692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5E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087880" y="3558540"/>
            <a:ext cx="924560" cy="12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9CA3AF"/>
                </a:solidFill>
                <a:latin typeface="MiSans Medium"/>
              </a:defRPr>
            </a:pPr>
            <a:r>
              <a:t>消耗同比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87880" y="3723640"/>
            <a:ext cx="92456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4B5563"/>
                </a:solidFill>
                <a:latin typeface="MiSans Semibold"/>
              </a:defRPr>
            </a:pPr>
            <a:r>
              <a:t>新起盘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101340" y="3520440"/>
            <a:ext cx="1051560" cy="56692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5E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177540" y="3558540"/>
            <a:ext cx="924560" cy="12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9CA3AF"/>
                </a:solidFill>
                <a:latin typeface="MiSans Medium"/>
              </a:defRPr>
            </a:pPr>
            <a:r>
              <a:t>消耗环比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177540" y="3723640"/>
            <a:ext cx="92456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4B5563"/>
                </a:solidFill>
                <a:latin typeface="MiSans Semibold"/>
              </a:defRPr>
            </a:pPr>
            <a:r>
              <a:t>新起盘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191000" y="3520440"/>
            <a:ext cx="1051560" cy="56692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5E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67200" y="3558540"/>
            <a:ext cx="924560" cy="12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9CA3AF"/>
                </a:solidFill>
                <a:latin typeface="MiSans Medium"/>
              </a:defRPr>
            </a:pPr>
            <a:r>
              <a:t>ROI同比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67200" y="3723640"/>
            <a:ext cx="92456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4B5563"/>
                </a:solidFill>
                <a:latin typeface="MiSans Semibold"/>
              </a:defRPr>
            </a:pPr>
            <a:r>
              <a:t>新起盘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280660" y="3520440"/>
            <a:ext cx="1051560" cy="56692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5E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356860" y="3558540"/>
            <a:ext cx="924560" cy="12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9CA3AF"/>
                </a:solidFill>
                <a:latin typeface="MiSans Medium"/>
              </a:defRPr>
            </a:pPr>
            <a:r>
              <a:t>ROI环比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56860" y="3723640"/>
            <a:ext cx="92456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4B5563"/>
                </a:solidFill>
                <a:latin typeface="MiSans Semibold"/>
              </a:defRPr>
            </a:pPr>
            <a:r>
              <a:t>新起盘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370320" y="3520440"/>
            <a:ext cx="1051560" cy="56692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5E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46520" y="3558540"/>
            <a:ext cx="924560" cy="12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9CA3AF"/>
                </a:solidFill>
                <a:latin typeface="MiSans Medium"/>
              </a:defRPr>
            </a:pPr>
            <a:r>
              <a:t>费比同比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46520" y="3723640"/>
            <a:ext cx="92456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4B5563"/>
                </a:solidFill>
                <a:latin typeface="MiSans Semibold"/>
              </a:defRPr>
            </a:pPr>
            <a:r>
              <a:t>新起盘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459980" y="3520440"/>
            <a:ext cx="1051560" cy="56692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5E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536180" y="3558540"/>
            <a:ext cx="924560" cy="12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9CA3AF"/>
                </a:solidFill>
                <a:latin typeface="MiSans Medium"/>
              </a:defRPr>
            </a:pPr>
            <a:r>
              <a:t>费比环比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536180" y="3723640"/>
            <a:ext cx="92456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4B5563"/>
                </a:solidFill>
                <a:latin typeface="MiSans Semibold"/>
              </a:defRPr>
            </a:pPr>
            <a:r>
              <a:t>新起盘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549640" y="3520440"/>
            <a:ext cx="1051560" cy="56692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5E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625840" y="3558540"/>
            <a:ext cx="924560" cy="12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9CA3AF"/>
                </a:solidFill>
                <a:latin typeface="MiSans Medium"/>
              </a:defRPr>
            </a:pPr>
            <a:r>
              <a:t>CPC同比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625840" y="3723640"/>
            <a:ext cx="92456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4B5563"/>
                </a:solidFill>
                <a:latin typeface="MiSans Semibold"/>
              </a:defRPr>
            </a:pPr>
            <a:r>
              <a:t>新起盘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639300" y="3520440"/>
            <a:ext cx="1051560" cy="56692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5E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715500" y="3558540"/>
            <a:ext cx="924560" cy="12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9CA3AF"/>
                </a:solidFill>
                <a:latin typeface="MiSans Medium"/>
              </a:defRPr>
            </a:pPr>
            <a:r>
              <a:t>CVR同比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715500" y="3723640"/>
            <a:ext cx="92456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4B5563"/>
                </a:solidFill>
                <a:latin typeface="MiSans Semibold"/>
              </a:defRPr>
            </a:pPr>
            <a:r>
              <a:t>新起盘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31520" y="4297680"/>
            <a:ext cx="3246120" cy="9144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5E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731520" y="4297680"/>
            <a:ext cx="3246120" cy="38100"/>
          </a:xfrm>
          <a:prstGeom prst="rect">
            <a:avLst/>
          </a:prstGeom>
          <a:solidFill>
            <a:srgbClr val="6BD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58520" y="4424680"/>
            <a:ext cx="299212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6BDCB0"/>
                </a:solidFill>
                <a:latin typeface="MiSans Semibold"/>
              </a:defRPr>
            </a:pPr>
            <a:r>
              <a:t>ROI修复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58520" y="4678680"/>
            <a:ext cx="299212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9CA3AF"/>
                </a:solidFill>
                <a:latin typeface="MiSans Medium"/>
              </a:defRPr>
            </a:pPr>
            <a:r>
              <a:t>ROI环比+9.5%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58520" y="4881880"/>
            <a:ext cx="2992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B5563"/>
                </a:solidFill>
                <a:latin typeface="MiSans Medium"/>
              </a:defRPr>
            </a:pPr>
            <a:r>
              <a:t>H1推广优化效果明确——消耗放量同时ROI同比+39.3%。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160520" y="4297680"/>
            <a:ext cx="3246120" cy="9144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5E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4160520" y="4297680"/>
            <a:ext cx="3246120" cy="38100"/>
          </a:xfrm>
          <a:prstGeom prst="rect">
            <a:avLst/>
          </a:prstGeom>
          <a:solidFill>
            <a:srgbClr val="6BD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287520" y="4424680"/>
            <a:ext cx="299212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6BDCB0"/>
                </a:solidFill>
                <a:latin typeface="MiSans Semibold"/>
              </a:defRPr>
            </a:pPr>
            <a:r>
              <a:t>费比改善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87520" y="4678680"/>
            <a:ext cx="299212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9CA3AF"/>
                </a:solidFill>
                <a:latin typeface="MiSans Medium"/>
              </a:defRPr>
            </a:pPr>
            <a:r>
              <a:t>环比-0.9pt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287520" y="4881880"/>
            <a:ext cx="2992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B5563"/>
                </a:solidFill>
                <a:latin typeface="MiSans Medium"/>
              </a:defRPr>
            </a:pPr>
            <a:r>
              <a:t>同销售口径下费用效率持续改善，控费与提效同步成立。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7635240" y="4297680"/>
            <a:ext cx="3246120" cy="9144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5E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635240" y="4297680"/>
            <a:ext cx="3246120" cy="38100"/>
          </a:xfrm>
          <a:prstGeom prst="rect">
            <a:avLst/>
          </a:prstGeom>
          <a:solidFill>
            <a:srgbClr val="6BD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762240" y="4424680"/>
            <a:ext cx="299212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6BDCB0"/>
                </a:solidFill>
                <a:latin typeface="MiSans Semibold"/>
              </a:defRPr>
            </a:pPr>
            <a:r>
              <a:t>平台联合增长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762240" y="4678680"/>
            <a:ext cx="299212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9CA3AF"/>
                </a:solidFill>
                <a:latin typeface="MiSans Medium"/>
              </a:defRPr>
            </a:pPr>
            <a:r>
              <a:t>销售同比+10%/环比+4.4%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762240" y="4881880"/>
            <a:ext cx="2992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B5563"/>
                </a:solidFill>
                <a:latin typeface="MiSans Medium"/>
              </a:defRPr>
            </a:pPr>
            <a:r>
              <a:t>Q2模型已跑通：可控费比+活动绑定→确定性销售增长。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731520" y="5440680"/>
            <a:ext cx="5029200" cy="10515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5E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31520" y="5440680"/>
            <a:ext cx="5029200" cy="38100"/>
          </a:xfrm>
          <a:prstGeom prst="rect">
            <a:avLst/>
          </a:prstGeom>
          <a:solidFill>
            <a:srgbClr val="6BD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58520" y="5567680"/>
            <a:ext cx="47752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6BDCB0"/>
                </a:solidFill>
                <a:latin typeface="MiSans Semibold"/>
              </a:defRPr>
            </a:pPr>
            <a:r>
              <a:t>天猫旗舰店核心判断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58520" y="5821680"/>
            <a:ext cx="4775200" cy="56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B5563"/>
                </a:solidFill>
                <a:latin typeface="MiSans Medium"/>
              </a:defRPr>
            </a:pPr>
            <a:r>
              <a:t>H1结论：在合理费比框架内，规模与效率可以兼得。消耗+30.3%是策略性投入，Q2联合平台高费比合同已验证。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B5563"/>
                </a:solidFill>
                <a:latin typeface="MiSans Medium"/>
              </a:defRPr>
            </a:pPr>
            <a:r>
              <a:t>H2方向：保爆款、控节奏、抢核心词，将Q2联合投放模型复制到更多活动节点。站外UD引流必须回看站内承接效率。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6080760" y="5440680"/>
            <a:ext cx="5029200" cy="10515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5E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080760" y="5440680"/>
            <a:ext cx="5029200" cy="38100"/>
          </a:xfrm>
          <a:prstGeom prst="rect">
            <a:avLst/>
          </a:prstGeom>
          <a:solidFill>
            <a:srgbClr val="6BD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207760" y="5567680"/>
            <a:ext cx="47752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6BDCB0"/>
                </a:solidFill>
                <a:latin typeface="MiSans Semibold"/>
              </a:defRPr>
            </a:pPr>
            <a:r>
              <a:t>天猫数码旗舰店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207760" y="5821680"/>
            <a:ext cx="4775200" cy="56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B5563"/>
                </a:solidFill>
                <a:latin typeface="MiSans Medium"/>
              </a:defRPr>
            </a:pPr>
            <a:r>
              <a:t>新起盘账户，缺少完整评价基础——不急于下结论。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B5563"/>
                </a:solidFill>
                <a:latin typeface="MiSans Medium"/>
              </a:defRPr>
            </a:pPr>
            <a:r>
              <a:t>短期重点：模型冷启、人群沉淀、素材跑数、商品承接。H2以销售增长为主。长期定位：多店矩阵补充。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56032"/>
            <a:ext cx="1828800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72400" y="91440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8000" b="1">
                <a:solidFill>
                  <a:srgbClr val="B5EED7"/>
                </a:solidFill>
                <a:latin typeface="MiSans Semibold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6BDCB0"/>
                </a:solidFill>
                <a:latin typeface="MiSans Semibold"/>
              </a:defRPr>
            </a:pPr>
            <a:r>
              <a:t>H1 Performance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A1A2E"/>
                </a:solidFill>
                <a:latin typeface="MiSans Semibold"/>
              </a:defRPr>
            </a:pPr>
            <a:r>
              <a:t>上半年总结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23160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DCB0"/>
                </a:solidFill>
                <a:latin typeface="MiSans Medium"/>
              </a:defRPr>
            </a:pPr>
            <a:r>
              <a:t>ROI环比+37%——H1效率修复最亮眼的数字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743200"/>
            <a:ext cx="10424160" cy="292608"/>
          </a:xfrm>
          <a:prstGeom prst="roundRect">
            <a:avLst/>
          </a:prstGeom>
          <a:solidFill>
            <a:srgbClr val="B5EED7"/>
          </a:solidFill>
          <a:ln w="6350">
            <a:solidFill>
              <a:srgbClr val="6BD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3920" y="2779776"/>
            <a:ext cx="10241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4B5563"/>
                </a:solidFill>
                <a:latin typeface="MiSans Medium"/>
              </a:defRPr>
            </a:pPr>
            <a:r>
              <a:t>⚠ 京东自营销售同比-15.8%，核心原因是市场大盘整体下滑，并非控费比导致。控费策略方向正确，H2需在合理费比内提升推广效果，驱动销售回升。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9692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6BDCB0"/>
                </a:solidFill>
                <a:latin typeface="MiSans Semibold"/>
              </a:defRPr>
            </a:pPr>
            <a:r>
              <a:t>京东自营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11680" y="3246120"/>
            <a:ext cx="1051560" cy="53035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5E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87880" y="3284220"/>
            <a:ext cx="924560" cy="12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9CA3AF"/>
                </a:solidFill>
                <a:latin typeface="MiSans Medium"/>
              </a:defRPr>
            </a:pPr>
            <a:r>
              <a:t>消耗同比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87880" y="3449320"/>
            <a:ext cx="92456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D97706"/>
                </a:solidFill>
                <a:latin typeface="MiSans Semibold"/>
              </a:defRPr>
            </a:pPr>
            <a:r>
              <a:t>-13.2%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101340" y="3246120"/>
            <a:ext cx="1051560" cy="53035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5E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77540" y="3284220"/>
            <a:ext cx="924560" cy="12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9CA3AF"/>
                </a:solidFill>
                <a:latin typeface="MiSans Medium"/>
              </a:defRPr>
            </a:pPr>
            <a:r>
              <a:t>消耗环比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77540" y="3449320"/>
            <a:ext cx="92456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0000"/>
                </a:solidFill>
                <a:latin typeface="MiSans Semibold"/>
              </a:defRPr>
            </a:pPr>
            <a:r>
              <a:t>-15.8%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91000" y="3246120"/>
            <a:ext cx="1051560" cy="53035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5E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67200" y="3284220"/>
            <a:ext cx="924560" cy="12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9CA3AF"/>
                </a:solidFill>
                <a:latin typeface="MiSans Medium"/>
              </a:defRPr>
            </a:pPr>
            <a:r>
              <a:t>ROI同比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67200" y="3449320"/>
            <a:ext cx="92456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6BDCB0"/>
                </a:solidFill>
                <a:latin typeface="MiSans Semibold"/>
              </a:defRPr>
            </a:pPr>
            <a:r>
              <a:t>+25.6%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280660" y="3246120"/>
            <a:ext cx="1051560" cy="53035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5E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56860" y="3284220"/>
            <a:ext cx="924560" cy="12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9CA3AF"/>
                </a:solidFill>
                <a:latin typeface="MiSans Medium"/>
              </a:defRPr>
            </a:pPr>
            <a:r>
              <a:t>ROI环比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56860" y="3449320"/>
            <a:ext cx="92456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6BDCB0"/>
                </a:solidFill>
                <a:latin typeface="MiSans Semibold"/>
              </a:defRPr>
            </a:pPr>
            <a:r>
              <a:t>+37%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70320" y="3246120"/>
            <a:ext cx="1051560" cy="53035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5E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3284220"/>
            <a:ext cx="924560" cy="12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9CA3AF"/>
                </a:solidFill>
                <a:latin typeface="MiSans Medium"/>
              </a:defRPr>
            </a:pPr>
            <a:r>
              <a:t>费比同比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3449320"/>
            <a:ext cx="92456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D97706"/>
                </a:solidFill>
                <a:latin typeface="MiSans Semibold"/>
              </a:defRPr>
            </a:pPr>
            <a:r>
              <a:t>+0.34pt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59980" y="3246120"/>
            <a:ext cx="1051560" cy="53035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5E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36180" y="3284220"/>
            <a:ext cx="924560" cy="12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9CA3AF"/>
                </a:solidFill>
                <a:latin typeface="MiSans Medium"/>
              </a:defRPr>
            </a:pPr>
            <a:r>
              <a:t>费比环比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36180" y="3449320"/>
            <a:ext cx="92456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6BDCB0"/>
                </a:solidFill>
                <a:latin typeface="MiSans Semibold"/>
              </a:defRPr>
            </a:pPr>
            <a:r>
              <a:t>-1.04pt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549640" y="3246120"/>
            <a:ext cx="1051560" cy="53035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5E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25840" y="3284220"/>
            <a:ext cx="924560" cy="12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9CA3AF"/>
                </a:solidFill>
                <a:latin typeface="MiSans Medium"/>
              </a:defRPr>
            </a:pPr>
            <a:r>
              <a:t>销售同比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25840" y="3449320"/>
            <a:ext cx="92456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0000"/>
                </a:solidFill>
                <a:latin typeface="MiSans Semibold"/>
              </a:defRPr>
            </a:pPr>
            <a:r>
              <a:t>-15.8%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639300" y="3246120"/>
            <a:ext cx="1051560" cy="53035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5E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715500" y="3284220"/>
            <a:ext cx="924560" cy="12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9CA3AF"/>
                </a:solidFill>
                <a:latin typeface="MiSans Medium"/>
              </a:defRPr>
            </a:pPr>
            <a:r>
              <a:t>销售环比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15500" y="3449320"/>
            <a:ext cx="92456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D97706"/>
                </a:solidFill>
                <a:latin typeface="MiSans Semibold"/>
              </a:defRPr>
            </a:pPr>
            <a:r>
              <a:t>-8.1%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398272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6BDCB0"/>
                </a:solidFill>
                <a:latin typeface="MiSans Semibold"/>
              </a:defRPr>
            </a:pPr>
            <a:r>
              <a:t>京东POP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011680" y="3931920"/>
            <a:ext cx="1051560" cy="53035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5E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087880" y="3970020"/>
            <a:ext cx="924560" cy="12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9CA3AF"/>
                </a:solidFill>
                <a:latin typeface="MiSans Medium"/>
              </a:defRPr>
            </a:pPr>
            <a:r>
              <a:t>消耗同比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087880" y="4135120"/>
            <a:ext cx="92456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6BDCB0"/>
                </a:solidFill>
                <a:latin typeface="MiSans Semibold"/>
              </a:defRPr>
            </a:pPr>
            <a:r>
              <a:t>+3.2%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101340" y="3931920"/>
            <a:ext cx="1051560" cy="53035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5E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177540" y="3970020"/>
            <a:ext cx="924560" cy="12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9CA3AF"/>
                </a:solidFill>
                <a:latin typeface="MiSans Medium"/>
              </a:defRPr>
            </a:pPr>
            <a:r>
              <a:t>消耗环比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177540" y="4135120"/>
            <a:ext cx="92456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D97706"/>
                </a:solidFill>
                <a:latin typeface="MiSans Semibold"/>
              </a:defRPr>
            </a:pPr>
            <a:r>
              <a:t>-10.8%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191000" y="3931920"/>
            <a:ext cx="1051560" cy="53035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5E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267200" y="3970020"/>
            <a:ext cx="924560" cy="12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9CA3AF"/>
                </a:solidFill>
                <a:latin typeface="MiSans Medium"/>
              </a:defRPr>
            </a:pPr>
            <a:r>
              <a:t>ROI同比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67200" y="4135120"/>
            <a:ext cx="92456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6BDCB0"/>
                </a:solidFill>
                <a:latin typeface="MiSans Semibold"/>
              </a:defRPr>
            </a:pPr>
            <a:r>
              <a:t>+29.3%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280660" y="3931920"/>
            <a:ext cx="1051560" cy="53035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5E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356860" y="3970020"/>
            <a:ext cx="924560" cy="12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9CA3AF"/>
                </a:solidFill>
                <a:latin typeface="MiSans Medium"/>
              </a:defRPr>
            </a:pPr>
            <a:r>
              <a:t>ROI环比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356860" y="4135120"/>
            <a:ext cx="92456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6BDCB0"/>
                </a:solidFill>
                <a:latin typeface="MiSans Semibold"/>
              </a:defRPr>
            </a:pPr>
            <a:r>
              <a:t>+38.5%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370320" y="3931920"/>
            <a:ext cx="1051560" cy="53035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5E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46520" y="3970020"/>
            <a:ext cx="924560" cy="12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9CA3AF"/>
                </a:solidFill>
                <a:latin typeface="MiSans Medium"/>
              </a:defRPr>
            </a:pPr>
            <a:r>
              <a:t>费比同比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46520" y="4135120"/>
            <a:ext cx="92456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D97706"/>
                </a:solidFill>
                <a:latin typeface="MiSans Semibold"/>
              </a:defRPr>
            </a:pPr>
            <a:r>
              <a:t>+0.14pt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459980" y="3931920"/>
            <a:ext cx="1051560" cy="53035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5E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536180" y="3970020"/>
            <a:ext cx="924560" cy="12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9CA3AF"/>
                </a:solidFill>
                <a:latin typeface="MiSans Medium"/>
              </a:defRPr>
            </a:pPr>
            <a:r>
              <a:t>费比环比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536180" y="4135120"/>
            <a:ext cx="92456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6BDCB0"/>
                </a:solidFill>
                <a:latin typeface="MiSans Semibold"/>
              </a:defRPr>
            </a:pPr>
            <a:r>
              <a:t>-0.58pt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549640" y="3931920"/>
            <a:ext cx="1051560" cy="53035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5E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625840" y="3970020"/>
            <a:ext cx="924560" cy="12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9CA3AF"/>
                </a:solidFill>
                <a:latin typeface="MiSans Medium"/>
              </a:defRPr>
            </a:pPr>
            <a:r>
              <a:t>销售同比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625840" y="4135120"/>
            <a:ext cx="92456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6BDCB0"/>
                </a:solidFill>
                <a:latin typeface="MiSans Semibold"/>
              </a:defRPr>
            </a:pPr>
            <a:r>
              <a:t>+2.4%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639300" y="3931920"/>
            <a:ext cx="1051560" cy="53035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5E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715500" y="3970020"/>
            <a:ext cx="924560" cy="12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9CA3AF"/>
                </a:solidFill>
                <a:latin typeface="MiSans Medium"/>
              </a:defRPr>
            </a:pPr>
            <a:r>
              <a:t>销售环比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715500" y="4135120"/>
            <a:ext cx="92456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D97706"/>
                </a:solidFill>
                <a:latin typeface="MiSans Semibold"/>
              </a:defRPr>
            </a:pPr>
            <a:r>
              <a:t>-7.9%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31520" y="466852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6BDCB0"/>
                </a:solidFill>
                <a:latin typeface="MiSans Semibold"/>
              </a:defRPr>
            </a:pPr>
            <a:r>
              <a:t>Mr.Green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2011680" y="4617720"/>
            <a:ext cx="1051560" cy="53035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5E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087880" y="4655820"/>
            <a:ext cx="924560" cy="12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9CA3AF"/>
                </a:solidFill>
                <a:latin typeface="MiSans Medium"/>
              </a:defRPr>
            </a:pPr>
            <a:r>
              <a:t>消耗同比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087880" y="4820920"/>
            <a:ext cx="92456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0000"/>
                </a:solidFill>
                <a:latin typeface="MiSans Semibold"/>
              </a:defRPr>
            </a:pPr>
            <a:r>
              <a:t>-19.3%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3101340" y="4617720"/>
            <a:ext cx="1051560" cy="53035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5E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177540" y="4655820"/>
            <a:ext cx="924560" cy="12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9CA3AF"/>
                </a:solidFill>
                <a:latin typeface="MiSans Medium"/>
              </a:defRPr>
            </a:pPr>
            <a:r>
              <a:t>消耗环比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177540" y="4820920"/>
            <a:ext cx="92456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D97706"/>
                </a:solidFill>
                <a:latin typeface="MiSans Semibold"/>
              </a:defRPr>
            </a:pPr>
            <a:r>
              <a:t>-7.2%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4191000" y="4617720"/>
            <a:ext cx="1051560" cy="53035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5E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267200" y="4655820"/>
            <a:ext cx="924560" cy="12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9CA3AF"/>
                </a:solidFill>
                <a:latin typeface="MiSans Medium"/>
              </a:defRPr>
            </a:pPr>
            <a:r>
              <a:t>ROI同比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267200" y="4820920"/>
            <a:ext cx="92456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6BDCB0"/>
                </a:solidFill>
                <a:latin typeface="MiSans Semibold"/>
              </a:defRPr>
            </a:pPr>
            <a:r>
              <a:t>+9.5%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5280660" y="4617720"/>
            <a:ext cx="1051560" cy="53035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5E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356860" y="4655820"/>
            <a:ext cx="924560" cy="12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9CA3AF"/>
                </a:solidFill>
                <a:latin typeface="MiSans Medium"/>
              </a:defRPr>
            </a:pPr>
            <a:r>
              <a:t>ROI环比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356860" y="4820920"/>
            <a:ext cx="92456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6BDCB0"/>
                </a:solidFill>
                <a:latin typeface="MiSans Semibold"/>
              </a:defRPr>
            </a:pPr>
            <a:r>
              <a:t>+6.4%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6370320" y="4617720"/>
            <a:ext cx="1051560" cy="53035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5E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446520" y="4655820"/>
            <a:ext cx="924560" cy="12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9CA3AF"/>
                </a:solidFill>
                <a:latin typeface="MiSans Medium"/>
              </a:defRPr>
            </a:pPr>
            <a:r>
              <a:t>费比同比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446520" y="4820920"/>
            <a:ext cx="92456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6BDCB0"/>
                </a:solidFill>
                <a:latin typeface="MiSans Semibold"/>
              </a:defRPr>
            </a:pPr>
            <a:r>
              <a:t>-0.9pt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7459980" y="4617720"/>
            <a:ext cx="1051560" cy="53035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5E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536180" y="4655820"/>
            <a:ext cx="924560" cy="12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9CA3AF"/>
                </a:solidFill>
                <a:latin typeface="MiSans Medium"/>
              </a:defRPr>
            </a:pPr>
            <a:r>
              <a:t>费比环比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536180" y="4820920"/>
            <a:ext cx="92456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6BDCB0"/>
                </a:solidFill>
                <a:latin typeface="MiSans Semibold"/>
              </a:defRPr>
            </a:pPr>
            <a:r>
              <a:t>-0.68pt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8549640" y="4617720"/>
            <a:ext cx="1051560" cy="53035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5E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625840" y="4655820"/>
            <a:ext cx="924560" cy="12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9CA3AF"/>
                </a:solidFill>
                <a:latin typeface="MiSans Medium"/>
              </a:defRPr>
            </a:pPr>
            <a:r>
              <a:t>销售同比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625840" y="4820920"/>
            <a:ext cx="92456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0000"/>
                </a:solidFill>
                <a:latin typeface="MiSans Semibold"/>
              </a:defRPr>
            </a:pPr>
            <a:r>
              <a:t>-14.2%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9639300" y="4617720"/>
            <a:ext cx="1051560" cy="53035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5E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9715500" y="4655820"/>
            <a:ext cx="924560" cy="12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9CA3AF"/>
                </a:solidFill>
                <a:latin typeface="MiSans Medium"/>
              </a:defRPr>
            </a:pPr>
            <a:r>
              <a:t>销售环比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715500" y="4820920"/>
            <a:ext cx="92456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D97706"/>
                </a:solidFill>
                <a:latin typeface="MiSans Semibold"/>
              </a:defRPr>
            </a:pPr>
            <a:r>
              <a:t>-2.8%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731520" y="5349240"/>
            <a:ext cx="3246120" cy="9144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5E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31520" y="5349240"/>
            <a:ext cx="3246120" cy="38100"/>
          </a:xfrm>
          <a:prstGeom prst="rect">
            <a:avLst/>
          </a:prstGeom>
          <a:solidFill>
            <a:srgbClr val="6BD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58520" y="5476240"/>
            <a:ext cx="299212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6BDCB0"/>
                </a:solidFill>
                <a:latin typeface="MiSans Semibold"/>
              </a:defRPr>
            </a:pPr>
            <a:r>
              <a:t>ROI大幅提效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58520" y="5730240"/>
            <a:ext cx="299212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9CA3AF"/>
                </a:solidFill>
                <a:latin typeface="MiSans Medium"/>
              </a:defRPr>
            </a:pPr>
            <a:r>
              <a:t>环比+37%，同比+25.6%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58520" y="5933440"/>
            <a:ext cx="2992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B5563"/>
                </a:solidFill>
                <a:latin typeface="MiSans Medium"/>
              </a:defRPr>
            </a:pPr>
            <a:r>
              <a:t>京东自营提效最为显著——控费策略方法论已被数据验证，方向完全正确。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4160520" y="5349240"/>
            <a:ext cx="3246120" cy="9144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5E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4160520" y="5349240"/>
            <a:ext cx="3246120" cy="38100"/>
          </a:xfrm>
          <a:prstGeom prst="rect">
            <a:avLst/>
          </a:prstGeom>
          <a:solidFill>
            <a:srgbClr val="6BD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4287520" y="5476240"/>
            <a:ext cx="299212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6BDCB0"/>
                </a:solidFill>
                <a:latin typeface="MiSans Semibold"/>
              </a:defRPr>
            </a:pPr>
            <a:r>
              <a:t>费比持续改善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287520" y="5730240"/>
            <a:ext cx="299212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9CA3AF"/>
                </a:solidFill>
                <a:latin typeface="MiSans Medium"/>
              </a:defRPr>
            </a:pPr>
            <a:r>
              <a:t>环比-1.04pt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287520" y="5933440"/>
            <a:ext cx="2992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B5563"/>
                </a:solidFill>
                <a:latin typeface="MiSans Medium"/>
              </a:defRPr>
            </a:pPr>
            <a:r>
              <a:t>同销售口径下费比明显下降，费用效率持续优化。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7635240" y="5349240"/>
            <a:ext cx="3246120" cy="9144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5E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7635240" y="5349240"/>
            <a:ext cx="3246120" cy="38100"/>
          </a:xfrm>
          <a:prstGeom prst="rect">
            <a:avLst/>
          </a:prstGeom>
          <a:solidFill>
            <a:srgbClr val="6BD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762240" y="5476240"/>
            <a:ext cx="299212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6BDCB0"/>
                </a:solidFill>
                <a:latin typeface="MiSans Semibold"/>
              </a:defRPr>
            </a:pPr>
            <a:r>
              <a:t>大盘承压≠策略失误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7762240" y="5730240"/>
            <a:ext cx="299212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9CA3AF"/>
                </a:solidFill>
                <a:latin typeface="MiSans Medium"/>
              </a:defRPr>
            </a:pPr>
            <a:r>
              <a:t>销售同比-15.8%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762240" y="5933440"/>
            <a:ext cx="2992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B5563"/>
                </a:solidFill>
                <a:latin typeface="MiSans Medium"/>
              </a:defRPr>
            </a:pPr>
            <a:r>
              <a:t>销售下滑主因是行业大盘整体下滑，并非控费比导致。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731520" y="6375400"/>
            <a:ext cx="10728960" cy="355600"/>
          </a:xfrm>
          <a:prstGeom prst="roundRect">
            <a:avLst/>
          </a:prstGeom>
          <a:solidFill>
            <a:srgbClr val="B5E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833120" y="6426200"/>
            <a:ext cx="1052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4B5563"/>
                </a:solidFill>
                <a:latin typeface="MiSans Medium"/>
              </a:defRPr>
            </a:pPr>
            <a:r>
              <a:t>京东底线：H1效率修复已完成，H2必须恢复增长弹性——在守住ROI底线的同时，让核心品类和爆品重新扩量。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56032"/>
            <a:ext cx="1828800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72400" y="91440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8000" b="1">
                <a:solidFill>
                  <a:srgbClr val="B5EED7"/>
                </a:solidFill>
                <a:latin typeface="MiSans Semibold"/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6BDCB0"/>
                </a:solidFill>
                <a:latin typeface="MiSans Semibold"/>
              </a:defRPr>
            </a:pPr>
            <a:r>
              <a:t>H2 Strategic Planning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A1A2E"/>
                </a:solidFill>
                <a:latin typeface="MiSans Semibold"/>
              </a:defRPr>
            </a:pPr>
            <a:r>
              <a:t>下半年规划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23160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DCB0"/>
                </a:solidFill>
                <a:latin typeface="MiSans Medium"/>
              </a:defRPr>
            </a:pPr>
            <a:r>
              <a:t>从一个人盯核心品，到系统盯全盘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97480"/>
            <a:ext cx="10424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B5563"/>
                </a:solidFill>
                <a:latin typeface="MiSans Medium"/>
              </a:defRPr>
            </a:pPr>
            <a:r>
              <a:t>背景：H1一人统筹多店铺多模式，精力只能盯核心品。H2通过推广助理+AI，把监控范围从核心品扩展到全品类×全计划。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017520"/>
            <a:ext cx="2468880" cy="13716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5E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3017520"/>
            <a:ext cx="2468880" cy="38100"/>
          </a:xfrm>
          <a:prstGeom prst="rect">
            <a:avLst/>
          </a:prstGeom>
          <a:solidFill>
            <a:srgbClr val="6BD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8520" y="3144520"/>
            <a:ext cx="221488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6BDCB0"/>
                </a:solidFill>
                <a:latin typeface="MiSans Semibold"/>
              </a:defRPr>
            </a:pPr>
            <a:r>
              <a:t>核心爆款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8520" y="3398520"/>
            <a:ext cx="221488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9CA3AF"/>
                </a:solidFill>
                <a:latin typeface="MiSans Medium"/>
              </a:defRPr>
            </a:pPr>
            <a:r>
              <a:t>保排名·保转化·保预算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8520" y="3601720"/>
            <a:ext cx="2214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B5563"/>
                </a:solidFill>
                <a:latin typeface="MiSans Medium"/>
              </a:defRPr>
            </a:pPr>
            <a:r>
              <a:t>看ROI环比/核心词排名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B5563"/>
                </a:solidFill>
                <a:latin typeface="MiSans Medium"/>
              </a:defRPr>
            </a:pPr>
            <a:r>
              <a:t>活动承接效果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B5563"/>
                </a:solidFill>
                <a:latin typeface="MiSans Medium"/>
              </a:defRPr>
            </a:pPr>
            <a:r>
              <a:t>占60%+消耗，优先级最高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37560" y="3017520"/>
            <a:ext cx="2468880" cy="13716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5E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37560" y="3017520"/>
            <a:ext cx="2468880" cy="38100"/>
          </a:xfrm>
          <a:prstGeom prst="rect">
            <a:avLst/>
          </a:prstGeom>
          <a:solidFill>
            <a:srgbClr val="6BD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64560" y="3144520"/>
            <a:ext cx="221488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6BDCB0"/>
                </a:solidFill>
                <a:latin typeface="MiSans Semibold"/>
              </a:defRPr>
            </a:pPr>
            <a:r>
              <a:t>潜力单品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64560" y="3398520"/>
            <a:ext cx="221488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9CA3AF"/>
                </a:solidFill>
                <a:latin typeface="MiSans Medium"/>
              </a:defRPr>
            </a:pPr>
            <a:r>
              <a:t>测人群·测素材·测场景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64560" y="3601720"/>
            <a:ext cx="2214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B5563"/>
                </a:solidFill>
                <a:latin typeface="MiSans Medium"/>
              </a:defRPr>
            </a:pPr>
            <a:r>
              <a:t>看CPC/CVR/加购率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B5563"/>
                </a:solidFill>
                <a:latin typeface="MiSans Medium"/>
              </a:defRPr>
            </a:pPr>
            <a:r>
              <a:t>ROI趋势判断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B5563"/>
                </a:solidFill>
                <a:latin typeface="MiSans Medium"/>
              </a:defRPr>
            </a:pPr>
            <a:r>
              <a:t>每周评估是否升级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0" y="3017520"/>
            <a:ext cx="2468880" cy="13716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5E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43600" y="3017520"/>
            <a:ext cx="2468880" cy="38100"/>
          </a:xfrm>
          <a:prstGeom prst="rect">
            <a:avLst/>
          </a:prstGeom>
          <a:solidFill>
            <a:srgbClr val="6BD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70600" y="3144520"/>
            <a:ext cx="221488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6BDCB0"/>
                </a:solidFill>
                <a:latin typeface="MiSans Semibold"/>
              </a:defRPr>
            </a:pPr>
            <a:r>
              <a:t>新品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70600" y="3398520"/>
            <a:ext cx="221488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9CA3AF"/>
                </a:solidFill>
                <a:latin typeface="MiSans Medium"/>
              </a:defRPr>
            </a:pPr>
            <a:r>
              <a:t>小预算冷启·先跑模型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70600" y="3601720"/>
            <a:ext cx="2214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B5563"/>
                </a:solidFill>
                <a:latin typeface="MiSans Medium"/>
              </a:defRPr>
            </a:pPr>
            <a:r>
              <a:t>看点击率/加购率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B5563"/>
                </a:solidFill>
                <a:latin typeface="MiSans Medium"/>
              </a:defRPr>
            </a:pPr>
            <a:r>
              <a:t>素材胜出率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B5563"/>
                </a:solidFill>
                <a:latin typeface="MiSans Medium"/>
              </a:defRPr>
            </a:pPr>
            <a:r>
              <a:t>冷启周期≤14天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49640" y="3017520"/>
            <a:ext cx="2468880" cy="13716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5E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549640" y="3017520"/>
            <a:ext cx="2468880" cy="38100"/>
          </a:xfrm>
          <a:prstGeom prst="rect">
            <a:avLst/>
          </a:prstGeom>
          <a:solidFill>
            <a:srgbClr val="6BD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76640" y="3144520"/>
            <a:ext cx="221488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6BDCB0"/>
                </a:solidFill>
                <a:latin typeface="MiSans Semibold"/>
              </a:defRPr>
            </a:pPr>
            <a:r>
              <a:t>中长尾品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76640" y="3398520"/>
            <a:ext cx="221488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9CA3AF"/>
                </a:solidFill>
                <a:latin typeface="MiSans Medium"/>
              </a:defRPr>
            </a:pPr>
            <a:r>
              <a:t>低预算验证·快速止损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76640" y="3601720"/>
            <a:ext cx="2214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B5563"/>
                </a:solidFill>
                <a:latin typeface="MiSans Medium"/>
              </a:defRPr>
            </a:pPr>
            <a:r>
              <a:t>看ROI阈值/转化率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B5563"/>
                </a:solidFill>
                <a:latin typeface="MiSans Medium"/>
              </a:defRPr>
            </a:pPr>
            <a:r>
              <a:t>费用泄露排查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B5563"/>
                </a:solidFill>
                <a:latin typeface="MiSans Medium"/>
              </a:defRPr>
            </a:pPr>
            <a:r>
              <a:t>连续7天低于盈亏线→暂停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4617720"/>
            <a:ext cx="3337560" cy="15087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5E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1520" y="4617720"/>
            <a:ext cx="3337560" cy="38100"/>
          </a:xfrm>
          <a:prstGeom prst="rect">
            <a:avLst/>
          </a:prstGeom>
          <a:solidFill>
            <a:srgbClr val="6BD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8520" y="4744720"/>
            <a:ext cx="308356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6BDCB0"/>
                </a:solidFill>
                <a:latin typeface="MiSans Semibold"/>
              </a:defRPr>
            </a:pPr>
            <a:r>
              <a:t>📊 数据监控模板升级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8520" y="4998720"/>
            <a:ext cx="308356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9CA3AF"/>
                </a:solidFill>
                <a:latin typeface="MiSans Medium"/>
              </a:defRPr>
            </a:pPr>
            <a:r>
              <a:t>制定多维复盘模板——周期复盘、及时发现问题调优、提效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8520" y="5201920"/>
            <a:ext cx="3083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B5563"/>
                </a:solidFill>
                <a:latin typeface="MiSans Medium"/>
              </a:defRPr>
            </a:pPr>
            <a:r>
              <a:t>▸ 日看异常：AI自动扫描全平台数据，识别消耗/ROI/CPC/CVR波动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B5563"/>
                </a:solidFill>
                <a:latin typeface="MiSans Medium"/>
              </a:defRPr>
            </a:pPr>
            <a:r>
              <a:t>▸ 周看趋势：商品层级迁移监控+品类横向对比+费用泄露排查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B5563"/>
                </a:solidFill>
                <a:latin typeface="MiSans Medium"/>
              </a:defRPr>
            </a:pPr>
            <a:r>
              <a:t>▸ 月看结构：平台结构复盘→品类贡献度→预算再分配→策略调整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B5563"/>
                </a:solidFill>
                <a:latin typeface="MiSans Medium"/>
              </a:defRPr>
            </a:pPr>
            <a:r>
              <a:t>▸ 覆盖维度：平台→店铺→品类→商品→计划→关键词→人群→素材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B5563"/>
                </a:solidFill>
                <a:latin typeface="MiSans Medium"/>
              </a:defRPr>
            </a:pPr>
            <a:r>
              <a:t>▸ 核心价值：从事后「发现大问题」→过程「识别小异常」，调优前移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51960" y="4617720"/>
            <a:ext cx="3337560" cy="15087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5E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251960" y="4617720"/>
            <a:ext cx="3337560" cy="38100"/>
          </a:xfrm>
          <a:prstGeom prst="rect">
            <a:avLst/>
          </a:prstGeom>
          <a:solidFill>
            <a:srgbClr val="6BD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78960" y="4744720"/>
            <a:ext cx="308356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6BDCB0"/>
                </a:solidFill>
                <a:latin typeface="MiSans Semibold"/>
              </a:defRPr>
            </a:pPr>
            <a:r>
              <a:t>👥 人力分工升级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78960" y="4998720"/>
            <a:ext cx="308356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9CA3AF"/>
                </a:solidFill>
                <a:latin typeface="MiSans Medium"/>
              </a:defRPr>
            </a:pPr>
            <a:r>
              <a:t>负责人从拉表中释放，投入策略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78960" y="5201920"/>
            <a:ext cx="3083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B5563"/>
                </a:solidFill>
                <a:latin typeface="MiSans Medium"/>
              </a:defRPr>
            </a:pPr>
            <a:r>
              <a:t>▸ 负责人：策略/预算分配/平台打法/关键决策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B5563"/>
                </a:solidFill>
                <a:latin typeface="MiSans Medium"/>
              </a:defRPr>
            </a:pPr>
            <a:r>
              <a:t>▸ 推广助理：数据整理/异常初筛/计划跟进/素材维护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B5563"/>
                </a:solidFill>
                <a:latin typeface="MiSans Medium"/>
              </a:defRPr>
            </a:pPr>
            <a:r>
              <a:t>▸ 协同SOP：助理早输出昨日扫描→负责人10分钟标注优先级→当日动作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B5563"/>
                </a:solidFill>
                <a:latin typeface="MiSans Medium"/>
              </a:defRPr>
            </a:pPr>
            <a:r>
              <a:t>▸ 铁蛋将承担天猫旗舰店日报监控和异常初筛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818120" y="4617720"/>
            <a:ext cx="3337560" cy="15087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5E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818120" y="4617720"/>
            <a:ext cx="3337560" cy="38100"/>
          </a:xfrm>
          <a:prstGeom prst="rect">
            <a:avLst/>
          </a:prstGeom>
          <a:solidFill>
            <a:srgbClr val="6BD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945120" y="4744720"/>
            <a:ext cx="308356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6BDCB0"/>
                </a:solidFill>
                <a:latin typeface="MiSans Semibold"/>
              </a:defRPr>
            </a:pPr>
            <a:r>
              <a:t>🤖 AI工具提效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945120" y="4998720"/>
            <a:ext cx="308356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9CA3AF"/>
                </a:solidFill>
                <a:latin typeface="MiSans Medium"/>
              </a:defRPr>
            </a:pPr>
            <a:r>
              <a:t>提速诊断，降低个人经验依赖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945120" y="5201920"/>
            <a:ext cx="3083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B5563"/>
                </a:solidFill>
                <a:latin typeface="MiSans Medium"/>
              </a:defRPr>
            </a:pPr>
            <a:r>
              <a:t>▸ AI：数据处理+异常识别+趋势归因+策略草稿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B5563"/>
                </a:solidFill>
                <a:latin typeface="MiSans Medium"/>
              </a:defRPr>
            </a:pPr>
            <a:r>
              <a:t>▸ 人工：业务判断+动作取舍+执行落地+复盘纠偏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B5563"/>
                </a:solidFill>
                <a:latin typeface="MiSans Medium"/>
              </a:defRPr>
            </a:pPr>
            <a:r>
              <a:t>▸ 原则：AI出初稿，人工做终判——AI替代拉表，不替代判断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B5563"/>
                </a:solidFill>
                <a:latin typeface="MiSans Medium"/>
              </a:defRPr>
            </a:pPr>
            <a:r>
              <a:t>▸ 目标：团队无资深推广在场时也能快速获得标准化判断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56032"/>
            <a:ext cx="1828800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72400" y="91440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8000" b="1">
                <a:solidFill>
                  <a:srgbClr val="B5EED7"/>
                </a:solidFill>
                <a:latin typeface="MiSans Semibold"/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6BDCB0"/>
                </a:solidFill>
                <a:latin typeface="MiSans Semibold"/>
              </a:defRPr>
            </a:pPr>
            <a:r>
              <a:t>H2 Strategic Planning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A1A2E"/>
                </a:solidFill>
                <a:latin typeface="MiSans Semibold"/>
              </a:defRPr>
            </a:pPr>
            <a:r>
              <a:t>下半年规划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23160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DCB0"/>
                </a:solidFill>
                <a:latin typeface="MiSans Medium"/>
              </a:defRPr>
            </a:pPr>
            <a:r>
              <a:t>推广的终局不是买流量，是帮品类找到增长路径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97480"/>
            <a:ext cx="10424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B5563"/>
                </a:solidFill>
                <a:latin typeface="MiSans Medium"/>
              </a:defRPr>
            </a:pPr>
            <a:r>
              <a:t>目标：通过投放数据反向输出经营建议——哪些品类值得加预算、哪些商品需要调价格、哪些页面承接有问题。让推广从成本中心变为增长参谋。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154680"/>
            <a:ext cx="3291840" cy="30175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5E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3154680"/>
            <a:ext cx="3291840" cy="38100"/>
          </a:xfrm>
          <a:prstGeom prst="rect">
            <a:avLst/>
          </a:prstGeom>
          <a:solidFill>
            <a:srgbClr val="6BD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8520" y="3281680"/>
            <a:ext cx="303784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6BDCB0"/>
                </a:solidFill>
                <a:latin typeface="MiSans Semibold"/>
              </a:defRPr>
            </a:pPr>
            <a:r>
              <a:t>① 数据反馈：识别机会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8520" y="3535680"/>
            <a:ext cx="3037840" cy="253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B5563"/>
                </a:solidFill>
                <a:latin typeface="MiSans Medium"/>
              </a:defRPr>
            </a:pPr>
            <a:r>
              <a:t>1. 按品类×商品监控ROI/CPC/CVR/点击率/收藏加购，建立趋势基线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B5563"/>
                </a:solidFill>
                <a:latin typeface="MiSans Medium"/>
              </a:defRPr>
            </a:pPr>
            <a:r>
              <a:t>2. 三类机会自动标记：🔼低CPC高CVR→建议放量；⚠高点击低转化→承接问题同步运营；🔽高消耗低ROI→建议止损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B5563"/>
                </a:solidFill>
                <a:latin typeface="MiSans Medium"/>
              </a:defRPr>
            </a:pPr>
            <a:r>
              <a:t>3. 输出给运营：加预算的品类清单、需优化页面/价格/权益的商品清单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B5563"/>
                </a:solidFill>
                <a:latin typeface="MiSans Medium"/>
              </a:defRPr>
            </a:pPr>
            <a:r>
              <a:t>4. 从「感觉哪个品好」到「数据告诉哪个品好」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51960" y="3154680"/>
            <a:ext cx="3291840" cy="30175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5E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51960" y="3154680"/>
            <a:ext cx="3291840" cy="38100"/>
          </a:xfrm>
          <a:prstGeom prst="rect">
            <a:avLst/>
          </a:prstGeom>
          <a:solidFill>
            <a:srgbClr val="6BD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78960" y="3281680"/>
            <a:ext cx="303784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6BDCB0"/>
                </a:solidFill>
                <a:latin typeface="MiSans Semibold"/>
              </a:defRPr>
            </a:pPr>
            <a:r>
              <a:t>② 组合打法：提升效率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8960" y="3535680"/>
            <a:ext cx="3037840" cy="253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B5563"/>
                </a:solidFill>
                <a:latin typeface="MiSans Medium"/>
              </a:defRPr>
            </a:pPr>
            <a:r>
              <a:t>1. 搜索=承接明确需求；推荐/场景=拓新人群；站外种草=补认知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B5563"/>
                </a:solidFill>
                <a:latin typeface="MiSans Medium"/>
              </a:defRPr>
            </a:pPr>
            <a:r>
              <a:t>2. 核心品：搜索+推荐联动保排名；潜力品：小预算多场景测试；新品：先内容种草再站内承接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B5563"/>
                </a:solidFill>
                <a:latin typeface="MiSans Medium"/>
              </a:defRPr>
            </a:pPr>
            <a:r>
              <a:t>3. 每类打法绑定复盘指标——不看动作看结果：花了多少钱、带来多少销售、ROI是否在改善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B5563"/>
                </a:solidFill>
                <a:latin typeface="MiSans Medium"/>
              </a:defRPr>
            </a:pPr>
            <a:r>
              <a:t>4. 沉淀「什么品类在什么阶段用什么打法」的可复用模型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3154680"/>
            <a:ext cx="3291840" cy="30175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5E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0" y="3154680"/>
            <a:ext cx="3291840" cy="38100"/>
          </a:xfrm>
          <a:prstGeom prst="rect">
            <a:avLst/>
          </a:prstGeom>
          <a:solidFill>
            <a:srgbClr val="6BD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99400" y="3281680"/>
            <a:ext cx="303784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6BDCB0"/>
                </a:solidFill>
                <a:latin typeface="MiSans Semibold"/>
              </a:defRPr>
            </a:pPr>
            <a:r>
              <a:t>③ 经营协同：放大结果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99400" y="3535680"/>
            <a:ext cx="3037840" cy="253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B5563"/>
                </a:solidFill>
                <a:latin typeface="MiSans Medium"/>
              </a:defRPr>
            </a:pPr>
            <a:r>
              <a:t>1. 推广结论同步商品/运营/供应链：爆款备货提醒、价格竞争力分析、详情页转化率诊断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B5563"/>
                </a:solidFill>
                <a:latin typeface="MiSans Medium"/>
              </a:defRPr>
            </a:pPr>
            <a:r>
              <a:t>2. 大促前四部门联审：货品池+预算池+资源位+页面承接，确保全链路就位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B5563"/>
                </a:solidFill>
                <a:latin typeface="MiSans Medium"/>
              </a:defRPr>
            </a:pPr>
            <a:r>
              <a:t>3. 沉淀品类推广打法库，形成可复用的方法论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B5563"/>
                </a:solidFill>
                <a:latin typeface="MiSans Medium"/>
              </a:defRPr>
            </a:pPr>
            <a:r>
              <a:t>4. 核心输出：品类增长建议表——让推广数据成为经营决策依据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56032"/>
            <a:ext cx="1828800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72400" y="91440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8000" b="1">
                <a:solidFill>
                  <a:srgbClr val="B5EED7"/>
                </a:solidFill>
                <a:latin typeface="MiSans Semibold"/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6BDCB0"/>
                </a:solidFill>
                <a:latin typeface="MiSans Semibold"/>
              </a:defRPr>
            </a:pPr>
            <a:r>
              <a:t>H2 Strategic Planning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A1A2E"/>
                </a:solidFill>
                <a:latin typeface="MiSans Semibold"/>
              </a:defRPr>
            </a:pPr>
            <a:r>
              <a:t>下半年规划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23160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DCB0"/>
                </a:solidFill>
                <a:latin typeface="MiSans Medium"/>
              </a:defRPr>
            </a:pPr>
            <a:r>
              <a:t>天猫 / 京东 / 拼多多——差异化ROI标准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97480"/>
            <a:ext cx="10424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B5563"/>
                </a:solidFill>
                <a:latin typeface="MiSans Medium"/>
              </a:defRPr>
            </a:pPr>
            <a:r>
              <a:t>核心逻辑：不再用同一套ROI标准一刀切——天猫用可控费比换增长，京东在合理费比内提效+恢复规模，拼多多最小成本跑通方法。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108960"/>
            <a:ext cx="3291840" cy="31089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5E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3108960"/>
            <a:ext cx="3291840" cy="38100"/>
          </a:xfrm>
          <a:prstGeom prst="rect">
            <a:avLst/>
          </a:prstGeom>
          <a:solidFill>
            <a:srgbClr val="6BD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8520" y="3235960"/>
            <a:ext cx="303784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6BDCB0"/>
                </a:solidFill>
                <a:latin typeface="MiSans Semibold"/>
              </a:defRPr>
            </a:pPr>
            <a:r>
              <a:t>天猫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8520" y="3489960"/>
            <a:ext cx="303784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9CA3AF"/>
                </a:solidFill>
                <a:latin typeface="MiSans Medium"/>
              </a:defRPr>
            </a:pPr>
            <a:r>
              <a:t>可控费比换增长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8520" y="3693160"/>
            <a:ext cx="303784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B5563"/>
                </a:solidFill>
                <a:latin typeface="MiSans Medium"/>
              </a:defRPr>
            </a:pPr>
            <a:r>
              <a:t>▸ 定位：品牌主阵地，市场份额承接渠道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B5563"/>
                </a:solidFill>
                <a:latin typeface="MiSans Medium"/>
              </a:defRPr>
            </a:pPr>
            <a:r>
              <a:t>▸ 策略：复制Q2联合投放模型——平台联合资源+活动节点+核心爆款，以可控高费比换确定性销售增长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B5563"/>
                </a:solidFill>
                <a:latin typeface="MiSans Medium"/>
              </a:defRPr>
            </a:pPr>
            <a:r>
              <a:t>▸ 动作：核心词卡位、推荐扩量、UD站外引流、内容种草回流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B5563"/>
                </a:solidFill>
                <a:latin typeface="MiSans Medium"/>
              </a:defRPr>
            </a:pPr>
            <a:r>
              <a:t>▸ 边界：高费比必须绑定活动目标+商品池+承接结果。Q2已验证，H2是复制+优化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B5563"/>
                </a:solidFill>
                <a:latin typeface="MiSans Medium"/>
              </a:defRPr>
            </a:pPr>
            <a:r>
              <a:t>▸ 关键指标：销售增速 vs ROI下滑幅度——不能只看ROI，也不能只看销售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51960" y="3108960"/>
            <a:ext cx="3291840" cy="31089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5E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51960" y="3108960"/>
            <a:ext cx="3291840" cy="38100"/>
          </a:xfrm>
          <a:prstGeom prst="rect">
            <a:avLst/>
          </a:prstGeom>
          <a:solidFill>
            <a:srgbClr val="6BD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78960" y="3235960"/>
            <a:ext cx="303784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6BDCB0"/>
                </a:solidFill>
                <a:latin typeface="MiSans Semibold"/>
              </a:defRPr>
            </a:pPr>
            <a:r>
              <a:t>京东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78960" y="3489960"/>
            <a:ext cx="303784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9CA3AF"/>
                </a:solidFill>
                <a:latin typeface="MiSans Medium"/>
              </a:defRPr>
            </a:pPr>
            <a:r>
              <a:t>合理费比内提效+恢复规模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78960" y="3693160"/>
            <a:ext cx="303784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B5563"/>
                </a:solidFill>
                <a:latin typeface="MiSans Medium"/>
              </a:defRPr>
            </a:pPr>
            <a:r>
              <a:t>▸ 定位：效率修复已完成（ROI环比+37%），H2进入效率+规模平衡阶段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B5563"/>
                </a:solidFill>
                <a:latin typeface="MiSans Medium"/>
              </a:defRPr>
            </a:pPr>
            <a:r>
              <a:t>▸ 市场背景：H1销售-15.8%主因是行业大盘下滑，不是控费比导致——控费策略方向正确，但不补量份额会继续被蚕食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B5563"/>
                </a:solidFill>
                <a:latin typeface="MiSans Medium"/>
              </a:defRPr>
            </a:pPr>
            <a:r>
              <a:t>▸ 策略：在合理费比框架内做效果提升、驱动销售回升。不是「控费or放量」二选一，是换更有进攻性的控费目标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B5563"/>
                </a:solidFill>
                <a:latin typeface="MiSans Medium"/>
              </a:defRPr>
            </a:pPr>
            <a:r>
              <a:t>▸ 动作：关键词质量分优化、人群分层扩量、低效词清理、爆品预算保护——让有限预算产出更高销售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B5563"/>
                </a:solidFill>
                <a:latin typeface="MiSans Medium"/>
              </a:defRPr>
            </a:pPr>
            <a:r>
              <a:t>▸ 关键判断：控费≠不花钱，是花得更聪明。在合理费比区间内，效果提升就是最好的费比节省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0" y="3108960"/>
            <a:ext cx="3291840" cy="31089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5E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0" y="3108960"/>
            <a:ext cx="3291840" cy="38100"/>
          </a:xfrm>
          <a:prstGeom prst="rect">
            <a:avLst/>
          </a:prstGeom>
          <a:solidFill>
            <a:srgbClr val="6BD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99400" y="3235960"/>
            <a:ext cx="303784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6BDCB0"/>
                </a:solidFill>
                <a:latin typeface="MiSans Semibold"/>
              </a:defRPr>
            </a:pPr>
            <a:r>
              <a:t>拼多多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99400" y="3489960"/>
            <a:ext cx="303784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9CA3AF"/>
                </a:solidFill>
                <a:latin typeface="MiSans Medium"/>
              </a:defRPr>
            </a:pPr>
            <a:r>
              <a:t>最小成本跑通方法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99400" y="3693160"/>
            <a:ext cx="303784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B5563"/>
                </a:solidFill>
                <a:latin typeface="MiSans Medium"/>
              </a:defRPr>
            </a:pPr>
            <a:r>
              <a:t>▸ 定位：9月接手，新增提效场——前两个月不追ROI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B5563"/>
                </a:solidFill>
                <a:latin typeface="MiSans Medium"/>
              </a:defRPr>
            </a:pPr>
            <a:r>
              <a:t>▸ 策略：先账户体检+商品分层+计划结构+投放规则搭建，再规模化提效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B5563"/>
                </a:solidFill>
                <a:latin typeface="MiSans Medium"/>
              </a:defRPr>
            </a:pPr>
            <a:r>
              <a:t>▸ 动作：搜索/场景基础计划搭建、可投商品池筛选、素材AB测试、ROI阈值+止损机制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B5563"/>
                </a:solidFill>
                <a:latin typeface="MiSans Medium"/>
              </a:defRPr>
            </a:pPr>
            <a:r>
              <a:t>▸ 边界：9-10月学习和验证为主，双11小规模参与，12月沉淀规则后做2027规划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B5563"/>
                </a:solidFill>
                <a:latin typeface="MiSans Medium"/>
              </a:defRPr>
            </a:pPr>
            <a:r>
              <a:t>▸ 节奏：9月诊断→10月测试→11月小规模验证→12月定规则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56032"/>
            <a:ext cx="1828800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72400" y="91440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8000" b="1">
                <a:solidFill>
                  <a:srgbClr val="B5EED7"/>
                </a:solidFill>
                <a:latin typeface="MiSans Semibold"/>
              </a:defRPr>
            </a:pPr>
            <a: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6BDCB0"/>
                </a:solidFill>
                <a:latin typeface="MiSans Semibold"/>
              </a:defRPr>
            </a:pPr>
            <a:r>
              <a:t>Voice of 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A1A2E"/>
                </a:solidFill>
                <a:latin typeface="MiSans Semibold"/>
              </a:defRPr>
            </a:pPr>
            <a:r>
              <a:t>组织升级部分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23160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DCB0"/>
                </a:solidFill>
                <a:latin typeface="MiSans Medium"/>
              </a:defRPr>
            </a:pPr>
            <a:r>
              <a:t>把个人经验拆成团队方法，降低对关键人员的依赖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97480"/>
            <a:ext cx="10424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B5563"/>
                </a:solidFill>
                <a:latin typeface="MiSans Medium"/>
              </a:defRPr>
            </a:pPr>
            <a:r>
              <a:t>核心命题：H1一个人盯全局的瓶颈已显现。H2从「个人能力驱动」→「团队+系统驱动」。铁蛋半年培养→转岗已验证方法论可复制。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090672"/>
            <a:ext cx="3337560" cy="29260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5E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3090672"/>
            <a:ext cx="3337560" cy="38100"/>
          </a:xfrm>
          <a:prstGeom prst="rect">
            <a:avLst/>
          </a:prstGeom>
          <a:solidFill>
            <a:srgbClr val="6BD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8520" y="3217672"/>
            <a:ext cx="308356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6BDCB0"/>
                </a:solidFill>
                <a:latin typeface="MiSans Semibold"/>
              </a:defRPr>
            </a:pPr>
            <a:r>
              <a:t>📚 推广系统培训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8520" y="3471672"/>
            <a:ext cx="308356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9CA3AF"/>
                </a:solidFill>
                <a:latin typeface="MiSans Medium"/>
              </a:defRPr>
            </a:pPr>
            <a:r>
              <a:t>指导提升运营理论+实操能力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8520" y="3674872"/>
            <a:ext cx="308356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B5563"/>
                </a:solidFill>
                <a:latin typeface="MiSans Medium"/>
              </a:defRPr>
            </a:pPr>
            <a:r>
              <a:t>▸ 理论基础：平台竞价机制、人群策略、商品分层逻辑、预算节奏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B5563"/>
                </a:solidFill>
                <a:latin typeface="MiSans Medium"/>
              </a:defRPr>
            </a:pPr>
            <a:r>
              <a:t>▸ 实操训练：计划搭建、关键词优化、素材AB测试、数据解读与归因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B5563"/>
                </a:solidFill>
                <a:latin typeface="MiSans Medium"/>
              </a:defRPr>
            </a:pPr>
            <a:r>
              <a:t>▸ ROI/费比/CPC/CVR联动分析训练——从单指标看数字到多指标看关系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B5563"/>
                </a:solidFill>
                <a:latin typeface="MiSans Medium"/>
              </a:defRPr>
            </a:pPr>
            <a:r>
              <a:t>▸ 培训节奏：月度专题（平台规则+行业趋势）、周度案例复盘（最优/最差计划拆解+归因）、日常实操带教（助理独立→负责人校验）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B5563"/>
                </a:solidFill>
                <a:latin typeface="MiSans Medium"/>
              </a:defRPr>
            </a:pPr>
            <a:r>
              <a:t>▸ 验证案例：铁蛋从部门助理→推广助理→成功转岗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51960" y="3090672"/>
            <a:ext cx="3337560" cy="29260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5E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51960" y="3090672"/>
            <a:ext cx="3337560" cy="38100"/>
          </a:xfrm>
          <a:prstGeom prst="rect">
            <a:avLst/>
          </a:prstGeom>
          <a:solidFill>
            <a:srgbClr val="6BD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78960" y="3217672"/>
            <a:ext cx="308356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6BDCB0"/>
                </a:solidFill>
                <a:latin typeface="MiSans Semibold"/>
              </a:defRPr>
            </a:pPr>
            <a:r>
              <a:t>👥 负责人+助理协同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78960" y="3471672"/>
            <a:ext cx="3083560" cy="244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B5563"/>
                </a:solidFill>
                <a:latin typeface="MiSans Medium"/>
              </a:defRPr>
            </a:pPr>
            <a:r>
              <a:t>▸ 负责人：平台策略、预算分配、关键账户诊断、跨部门协同——把时间花在判断上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B5563"/>
                </a:solidFill>
                <a:latin typeface="MiSans Medium"/>
              </a:defRPr>
            </a:pPr>
            <a:r>
              <a:t>▸ 助理：日报数据、异常初筛、计划跟进、素材/关键词维护——把重复劳动标准化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B5563"/>
                </a:solidFill>
                <a:latin typeface="MiSans Medium"/>
              </a:defRPr>
            </a:pPr>
            <a:r>
              <a:t>▸ 协同SOP：助理每天早上输出昨日异常扫描→负责人10分钟标注优先级→当天动作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B5563"/>
                </a:solidFill>
                <a:latin typeface="MiSans Medium"/>
              </a:defRPr>
            </a:pPr>
            <a:r>
              <a:t>▸ 铁蛋加入后将承担天猫旗舰店的日报监控和异常初筛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0" y="3090672"/>
            <a:ext cx="3337560" cy="29260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5E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0" y="3090672"/>
            <a:ext cx="3337560" cy="38100"/>
          </a:xfrm>
          <a:prstGeom prst="rect">
            <a:avLst/>
          </a:prstGeom>
          <a:solidFill>
            <a:srgbClr val="6BD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99400" y="3217672"/>
            <a:ext cx="308356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6BDCB0"/>
                </a:solidFill>
                <a:latin typeface="MiSans Semibold"/>
              </a:defRPr>
            </a:pPr>
            <a:r>
              <a:t>📋 方法论产品化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99400" y="3471672"/>
            <a:ext cx="3083560" cy="244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B5563"/>
                </a:solidFill>
                <a:latin typeface="MiSans Medium"/>
              </a:defRPr>
            </a:pPr>
            <a:r>
              <a:t>▸ 商品分层SOP：核心爆款/潜力/新品/中长尾→投放规则+预算比例+止损线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B5563"/>
                </a:solidFill>
                <a:latin typeface="MiSans Medium"/>
              </a:defRPr>
            </a:pPr>
            <a:r>
              <a:t>▸ 异常处理清单：ROI下滑/费比上升/CPC异常/CVR波动→排查路径+处置动作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B5563"/>
                </a:solidFill>
                <a:latin typeface="MiSans Medium"/>
              </a:defRPr>
            </a:pPr>
            <a:r>
              <a:t>▸ 复盘机制：周看计划级异常→月看平台结构→活动看商品承接→季度迭代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B5563"/>
                </a:solidFill>
                <a:latin typeface="MiSans Medium"/>
              </a:defRPr>
            </a:pPr>
            <a:r>
              <a:t>▸ 所有SOP统一归档推广知识库，新人可一周内上手基础监控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56032"/>
            <a:ext cx="1828800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72400" y="91440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8000" b="1">
                <a:solidFill>
                  <a:srgbClr val="B5EED7"/>
                </a:solidFill>
                <a:latin typeface="MiSans Semibold"/>
              </a:defRPr>
            </a:pPr>
            <a: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6BDCB0"/>
                </a:solidFill>
                <a:latin typeface="MiSans Semibold"/>
              </a:defRPr>
            </a:pPr>
            <a:r>
              <a:t>Voice of 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A1A2E"/>
                </a:solidFill>
                <a:latin typeface="MiSans Semibold"/>
              </a:defRPr>
            </a:pPr>
            <a:r>
              <a:t>组织升级部分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23160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DCB0"/>
                </a:solidFill>
                <a:latin typeface="MiSans Medium"/>
              </a:defRPr>
            </a:pPr>
            <a:r>
              <a:t>AI不是替代判断，是让判断更快、更准、更标准化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97480"/>
            <a:ext cx="10424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B5563"/>
                </a:solidFill>
                <a:latin typeface="MiSans Medium"/>
              </a:defRPr>
            </a:pPr>
            <a:r>
              <a:t>核心逻辑：AI做数据处理+异常识别+策略草案——从拉表和排查中释放。人工做业务判断+动作取舍+执行+复盘——AI替代不了。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090672"/>
            <a:ext cx="3337560" cy="29260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5E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3090672"/>
            <a:ext cx="3337560" cy="38100"/>
          </a:xfrm>
          <a:prstGeom prst="rect">
            <a:avLst/>
          </a:prstGeom>
          <a:solidFill>
            <a:srgbClr val="6BD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8520" y="3217672"/>
            <a:ext cx="308356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6BDCB0"/>
                </a:solidFill>
                <a:latin typeface="MiSans Semibold"/>
              </a:defRPr>
            </a:pPr>
            <a:r>
              <a:t>① AI多维数据处理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8520" y="3471672"/>
            <a:ext cx="3083560" cy="244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B5563"/>
                </a:solidFill>
                <a:latin typeface="MiSans Medium"/>
              </a:defRPr>
            </a:pPr>
            <a:r>
              <a:t>▸ 每天自动扫描全平台×全店铺×全品类×全计划数据，识别异常波动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B5563"/>
                </a:solidFill>
                <a:latin typeface="MiSans Medium"/>
              </a:defRPr>
            </a:pPr>
            <a:r>
              <a:t>▸ 从「人工拉表找问题」（周级、易遗漏）→「AI先筛异常，人工判断原因」（日级、全覆盖）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B5563"/>
                </a:solidFill>
                <a:latin typeface="MiSans Medium"/>
              </a:defRPr>
            </a:pPr>
            <a:r>
              <a:t>▸ 场景：每天早上9:00，AI自动输出昨日异常扫描报告，推送推广群，负责人10分钟标注优先级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51960" y="3090672"/>
            <a:ext cx="3337560" cy="29260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5E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51960" y="3090672"/>
            <a:ext cx="3337560" cy="38100"/>
          </a:xfrm>
          <a:prstGeom prst="rect">
            <a:avLst/>
          </a:prstGeom>
          <a:solidFill>
            <a:srgbClr val="6BD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78960" y="3217672"/>
            <a:ext cx="308356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6BDCB0"/>
                </a:solidFill>
                <a:latin typeface="MiSans Semibold"/>
              </a:defRPr>
            </a:pPr>
            <a:r>
              <a:t>② AI快速定位核心问题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8960" y="3471672"/>
            <a:ext cx="3083560" cy="244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B5563"/>
                </a:solidFill>
                <a:latin typeface="MiSans Medium"/>
              </a:defRPr>
            </a:pPr>
            <a:r>
              <a:t>▸ 由总到细下钻：平台概览→店铺对比→品类拆解→商品诊断→计划/关键词归因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B5563"/>
                </a:solidFill>
                <a:latin typeface="MiSans Medium"/>
              </a:defRPr>
            </a:pPr>
            <a:r>
              <a:t>▸ 核心指标模块化：消耗、ROI、CPC、CVR、点击率、加购率、转化率——异常自动标记+趋势预警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B5563"/>
                </a:solidFill>
                <a:latin typeface="MiSans Medium"/>
              </a:defRPr>
            </a:pPr>
            <a:r>
              <a:t>▸ AI输出「可能原因」：流量成本变化/转化承接问题/预算节奏失衡/商品竞争力下降/活动资源不足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3090672"/>
            <a:ext cx="3337560" cy="29260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5E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0" y="3090672"/>
            <a:ext cx="3337560" cy="38100"/>
          </a:xfrm>
          <a:prstGeom prst="rect">
            <a:avLst/>
          </a:prstGeom>
          <a:solidFill>
            <a:srgbClr val="6BD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99400" y="3217672"/>
            <a:ext cx="308356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6BDCB0"/>
                </a:solidFill>
                <a:latin typeface="MiSans Semibold"/>
              </a:defRPr>
            </a:pPr>
            <a:r>
              <a:t>③ AI专业策略输出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99400" y="3471672"/>
            <a:ext cx="3083560" cy="244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B5563"/>
                </a:solidFill>
                <a:latin typeface="MiSans Medium"/>
              </a:defRPr>
            </a:pPr>
            <a:r>
              <a:t>▸ 沉淀推广指令库：每种异常场景→分析指令+优化建议模板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B5563"/>
                </a:solidFill>
                <a:latin typeface="MiSans Medium"/>
              </a:defRPr>
            </a:pPr>
            <a:r>
              <a:t>▸ 运营提出组合问题（如：XX品类CPC上升但CVR没变）→AI生成策略草案→负责人校验→指导实操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B5563"/>
                </a:solidFill>
                <a:latin typeface="MiSans Medium"/>
              </a:defRPr>
            </a:pPr>
            <a:r>
              <a:t>▸ 价值：降低推广指导成本，团队无资深推广在场也能快速获得标准化判断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56032"/>
            <a:ext cx="1828800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72400" y="91440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8000" b="1">
                <a:solidFill>
                  <a:srgbClr val="B5EED7"/>
                </a:solidFill>
                <a:latin typeface="MiSans Semibold"/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6BDCB0"/>
                </a:solidFill>
                <a:latin typeface="MiSans Semibold"/>
              </a:defRPr>
            </a:pPr>
            <a:r>
              <a:t>H2 Strategic Planning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A1A2E"/>
                </a:solidFill>
                <a:latin typeface="MiSans Semibold"/>
              </a:defRPr>
            </a:pPr>
            <a:r>
              <a:t>下半年规划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23160"/>
            <a:ext cx="10424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B5563"/>
                </a:solidFill>
                <a:latin typeface="MiSans Medium"/>
              </a:defRPr>
            </a:pPr>
            <a:r>
              <a:t>H2主线：先建规则 → 接渠道 → 打大促 → 沉淀方法。每个阶段有可验收的产出。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743200"/>
            <a:ext cx="2468880" cy="20116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5E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743200"/>
            <a:ext cx="2468880" cy="50800"/>
          </a:xfrm>
          <a:prstGeom prst="rect">
            <a:avLst/>
          </a:prstGeom>
          <a:solidFill>
            <a:srgbClr val="6BD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8520" y="2844800"/>
            <a:ext cx="221488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6BDCB0"/>
                </a:solidFill>
                <a:latin typeface="MiSans Semibold"/>
              </a:defRPr>
            </a:pPr>
            <a:r>
              <a:t>7-8月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8520" y="3187700"/>
            <a:ext cx="2214880" cy="14401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4B5563"/>
                </a:solidFill>
                <a:latin typeface="MiSans Medium"/>
              </a:defRPr>
            </a:pPr>
            <a:r>
              <a:t>① 商品分层SOP+预算分配规则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4B5563"/>
                </a:solidFill>
                <a:latin typeface="MiSans Medium"/>
              </a:defRPr>
            </a:pPr>
            <a:r>
              <a:t>② 推广助理+AI日/周监控上线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4B5563"/>
                </a:solidFill>
                <a:latin typeface="MiSans Medium"/>
              </a:defRPr>
            </a:pPr>
            <a:r>
              <a:t>③ 天猫/京东H2预算+重点商品池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4B5563"/>
                </a:solidFill>
                <a:latin typeface="MiSans Medium"/>
              </a:defRPr>
            </a:pPr>
            <a:r>
              <a:t>④ 周度复盘模板+异常处理清单v1.0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4B5563"/>
                </a:solidFill>
                <a:latin typeface="MiSans Medium"/>
              </a:defRPr>
            </a:pPr>
            <a:r>
              <a:t>⑤ 推广系统培训第一期启动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80" y="2743200"/>
            <a:ext cx="2468880" cy="20116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5E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83280" y="2743200"/>
            <a:ext cx="2468880" cy="50800"/>
          </a:xfrm>
          <a:prstGeom prst="rect">
            <a:avLst/>
          </a:prstGeom>
          <a:solidFill>
            <a:srgbClr val="6BD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10280" y="2844800"/>
            <a:ext cx="221488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6BDCB0"/>
                </a:solidFill>
                <a:latin typeface="MiSans Semibold"/>
              </a:defRPr>
            </a:pPr>
            <a:r>
              <a:t>9月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10280" y="3187700"/>
            <a:ext cx="2214880" cy="14401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4B5563"/>
                </a:solidFill>
                <a:latin typeface="MiSans Medium"/>
              </a:defRPr>
            </a:pPr>
            <a:r>
              <a:t>① 拼多多账户诊断报告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4B5563"/>
                </a:solidFill>
                <a:latin typeface="MiSans Medium"/>
              </a:defRPr>
            </a:pPr>
            <a:r>
              <a:t>② 搜索/场景基础投放规则搭建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4B5563"/>
                </a:solidFill>
                <a:latin typeface="MiSans Medium"/>
              </a:defRPr>
            </a:pPr>
            <a:r>
              <a:t>③ 双11预算框架+货品池初筛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4B5563"/>
                </a:solidFill>
                <a:latin typeface="MiSans Medium"/>
              </a:defRPr>
            </a:pPr>
            <a:r>
              <a:t>④ 推广助理独立承担天猫日报监控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35040" y="2743200"/>
            <a:ext cx="2468880" cy="20116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5E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35040" y="2743200"/>
            <a:ext cx="2468880" cy="50800"/>
          </a:xfrm>
          <a:prstGeom prst="rect">
            <a:avLst/>
          </a:prstGeom>
          <a:solidFill>
            <a:srgbClr val="6BD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62040" y="2844800"/>
            <a:ext cx="221488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6BDCB0"/>
                </a:solidFill>
                <a:latin typeface="MiSans Semibold"/>
              </a:defRPr>
            </a:pPr>
            <a:r>
              <a:t>10-11月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62040" y="3187700"/>
            <a:ext cx="2214880" cy="14401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4B5563"/>
                </a:solidFill>
                <a:latin typeface="MiSans Medium"/>
              </a:defRPr>
            </a:pPr>
            <a:r>
              <a:t>① 双11执行：预算/爆品保护/止损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4B5563"/>
                </a:solidFill>
                <a:latin typeface="MiSans Medium"/>
              </a:defRPr>
            </a:pPr>
            <a:r>
              <a:t>② 大促后复盘（平台×商品×素材）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4B5563"/>
                </a:solidFill>
                <a:latin typeface="MiSans Medium"/>
              </a:defRPr>
            </a:pPr>
            <a:r>
              <a:t>③ 拼多多双11小规模验证报告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4B5563"/>
                </a:solidFill>
                <a:latin typeface="MiSans Medium"/>
              </a:defRPr>
            </a:pPr>
            <a:r>
              <a:t>④ 品类增长建议表首次输出运营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0" y="2743200"/>
            <a:ext cx="2468880" cy="20116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5E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686800" y="2743200"/>
            <a:ext cx="2468880" cy="50800"/>
          </a:xfrm>
          <a:prstGeom prst="rect">
            <a:avLst/>
          </a:prstGeom>
          <a:solidFill>
            <a:srgbClr val="6BD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13800" y="2844800"/>
            <a:ext cx="221488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6BDCB0"/>
                </a:solidFill>
                <a:latin typeface="MiSans Semibold"/>
              </a:defRPr>
            </a:pPr>
            <a:r>
              <a:t>12月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13800" y="3187700"/>
            <a:ext cx="2214880" cy="14401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4B5563"/>
                </a:solidFill>
                <a:latin typeface="MiSans Medium"/>
              </a:defRPr>
            </a:pPr>
            <a:r>
              <a:t>① 年度推广手册v1.0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4B5563"/>
                </a:solidFill>
                <a:latin typeface="MiSans Medium"/>
              </a:defRPr>
            </a:pPr>
            <a:r>
              <a:t>② AI指令库+品类打法库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4B5563"/>
                </a:solidFill>
                <a:latin typeface="MiSans Medium"/>
              </a:defRPr>
            </a:pPr>
            <a:r>
              <a:t>③ 2027年预算与渠道规划建议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4B5563"/>
                </a:solidFill>
                <a:latin typeface="MiSans Medium"/>
              </a:defRPr>
            </a:pPr>
            <a:r>
              <a:t>④ 团队能力评估+下年培养计划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48000" y="3657600"/>
            <a:ext cx="1778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6BDCB0"/>
                </a:solidFill>
                <a:latin typeface="MiSans Medium"/>
              </a:defRPr>
            </a:pPr>
            <a: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99760" y="3657600"/>
            <a:ext cx="1778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6BDCB0"/>
                </a:solidFill>
                <a:latin typeface="MiSans Medium"/>
              </a:defRPr>
            </a:pPr>
            <a: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51520" y="3657600"/>
            <a:ext cx="1778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6BDCB0"/>
                </a:solidFill>
                <a:latin typeface="MiSans Medium"/>
              </a:defRPr>
            </a:pPr>
            <a: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5029200"/>
            <a:ext cx="10424160" cy="11887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5E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4720" y="513080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6BDCB0"/>
                </a:solidFill>
                <a:latin typeface="MiSans Semibold"/>
              </a:defRPr>
            </a:pPr>
            <a:r>
              <a:t>协同机制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4720" y="5511800"/>
            <a:ext cx="109728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6BDCB0"/>
                </a:solidFill>
                <a:latin typeface="MiSans Semibold"/>
              </a:defRPr>
            </a:pPr>
            <a:r>
              <a:t>周度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03120" y="5511800"/>
            <a:ext cx="86868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B5563"/>
                </a:solidFill>
                <a:latin typeface="MiSans Medium"/>
              </a:defRPr>
            </a:pPr>
            <a:r>
              <a:t>推广与运营同步：助理每周一输出上周异常扫描+本周关注清单，负责人标注优先级后同步对应运营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4720" y="5918200"/>
            <a:ext cx="109728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6BDCB0"/>
                </a:solidFill>
                <a:latin typeface="MiSans Semibold"/>
              </a:defRPr>
            </a:pPr>
            <a:r>
              <a:t>月度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03120" y="5918200"/>
            <a:ext cx="86868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B5563"/>
                </a:solidFill>
                <a:latin typeface="MiSans Medium"/>
              </a:defRPr>
            </a:pPr>
            <a:r>
              <a:t>推广输出品类建议：基于月度数据复盘，输出品类增长建议表（含预算调整+商品优化建议），指导运营下月策略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4720" y="6324600"/>
            <a:ext cx="109728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6BDCB0"/>
                </a:solidFill>
                <a:latin typeface="MiSans Semibold"/>
              </a:defRPr>
            </a:pPr>
            <a:r>
              <a:t>大促前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03120" y="6324600"/>
            <a:ext cx="86868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B5563"/>
                </a:solidFill>
                <a:latin typeface="MiSans Medium"/>
              </a:defRPr>
            </a:pPr>
            <a:r>
              <a:t>四部门联审：推广+运营+商品+供应链：货品池+预算池+资源位+页面承接联合审查，确保全链路就位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56032"/>
            <a:ext cx="1828800" cy="2743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5120640"/>
            <a:ext cx="12192000" cy="1828800"/>
          </a:xfrm>
          <a:prstGeom prst="rect">
            <a:avLst/>
          </a:prstGeom>
          <a:solidFill>
            <a:srgbClr val="6BD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828800"/>
            <a:ext cx="1219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1A1A2E"/>
                </a:solidFill>
                <a:latin typeface="MiSans Semibold"/>
              </a:defRPr>
            </a:pPr>
            <a:r>
              <a:t>THANK YOU</a:t>
            </a:r>
          </a:p>
        </p:txBody>
      </p:sp>
      <p:sp>
        <p:nvSpPr>
          <p:cNvPr id="6" name="Rectangle 5"/>
          <p:cNvSpPr/>
          <p:nvPr/>
        </p:nvSpPr>
        <p:spPr>
          <a:xfrm>
            <a:off x="4206240" y="2560320"/>
            <a:ext cx="3749039" cy="25400"/>
          </a:xfrm>
          <a:prstGeom prst="rect">
            <a:avLst/>
          </a:prstGeom>
          <a:solidFill>
            <a:srgbClr val="6BD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34640"/>
            <a:ext cx="1219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B5563"/>
                </a:solidFill>
                <a:latin typeface="MiSans Medium"/>
              </a:defRPr>
            </a:pPr>
            <a:r>
              <a:t>让增长更可控，让效率更稳定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5257800"/>
            <a:ext cx="1219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FFFFF"/>
                </a:solidFill>
                <a:latin typeface="MiSans Medium"/>
              </a:defRPr>
            </a:pPr>
            <a:r>
              <a:t>国内营销中心  |  东方  |  2026.07.23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