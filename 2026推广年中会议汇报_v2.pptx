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303520"/>
            <a:ext cx="12192000" cy="164592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50800" cy="201168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A1A2E"/>
                </a:solidFill>
                <a:latin typeface="MiSans Semibold"/>
              </a:defRPr>
            </a:pPr>
            <a:r>
              <a:t>2026 推广年中会议汇报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B5563"/>
                </a:solidFill>
                <a:latin typeface="MiSans Medium"/>
              </a:defRPr>
            </a:pPr>
            <a:r>
              <a:t>E-commerce Promotion Mid-Year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06040"/>
            <a:ext cx="4572000" cy="1905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Sans Medium"/>
              </a:defRPr>
            </a:pPr>
            <a:r>
              <a:t>汇报人：东方  |  部门：国内营销中心  |  汇报时间：2026.07.23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0644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iSans Semibold"/>
              </a:defRPr>
            </a:pPr>
            <a:r>
              <a:t>从投放执行到增长经营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743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B5EED7"/>
                </a:solidFill>
                <a:latin typeface="MiSans Semibold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Mid-Year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年中汇报结构 · 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4572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1206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MiSans Semibold"/>
              </a:defRPr>
            </a:pPr>
            <a:r>
              <a:t>上半年总结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Medium"/>
              </a:defRPr>
            </a:pPr>
            <a:r>
              <a:t>H1 业绩复盘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20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核心指标 | 关键成果 | 问题复盘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06040"/>
            <a:ext cx="512064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00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Medium"/>
              </a:defRPr>
            </a:pPr>
            <a:r>
              <a:t>H2 战略部署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20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业务规划 | 资源投入 | 里程碑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26280"/>
            <a:ext cx="10515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709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MiSans Semibold"/>
              </a:defRPr>
            </a:pPr>
            <a:r>
              <a:t>组织升级部分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20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Medium"/>
              </a:defRPr>
            </a:pPr>
            <a:r>
              <a:t>Voice of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406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团队声音 | 改进建议 | 协同机制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H1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上半年总结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消耗+30.3%，ROI同比+39.3%——钱花得更值了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91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DCB0"/>
                </a:solidFill>
                <a:latin typeface="MiSans Semibold"/>
              </a:defRPr>
            </a:pPr>
            <a:r>
              <a:t>天猫旗舰店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472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472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+18.4%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9278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438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438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0000"/>
                </a:solidFill>
                <a:latin typeface="MiSans Semibold"/>
              </a:defRPr>
            </a:pPr>
            <a:r>
              <a:t>-4.9%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244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404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404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+21.2%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210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370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370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+9.5%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176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336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336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+2.6pt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142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02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02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-0.9pt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268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268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+10.0%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0740" y="30175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2340" y="3081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2340" y="3296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+4.4%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85063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数码旗舰店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472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472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9278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438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438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244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404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404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7210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7370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370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6176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336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336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5142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5302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5302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4268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CPC同比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268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30740" y="3749039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32340" y="3812539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CVR同比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2340" y="4028439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B5563"/>
                </a:solidFill>
                <a:latin typeface="MiSans Semibold"/>
              </a:defRPr>
            </a:pPr>
            <a:r>
              <a:t>新起盘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" y="4526280"/>
            <a:ext cx="320040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4526280"/>
            <a:ext cx="320040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9640" y="4678680"/>
            <a:ext cx="289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ROI修复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9640" y="4983480"/>
            <a:ext cx="28956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ROI环比+9.5%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9640" y="5212080"/>
            <a:ext cx="2895600" cy="19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H1推广优化效果明确——消耗放量的同时，ROI同比+39.3%，效率同步提升。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60520" y="4526280"/>
            <a:ext cx="320040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60520" y="4526280"/>
            <a:ext cx="320040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12920" y="4678680"/>
            <a:ext cx="289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费比改善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2920" y="4983480"/>
            <a:ext cx="28956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环比-0.9pt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2920" y="5212080"/>
            <a:ext cx="2895600" cy="19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同销售口径下费用效率持续改善，控费与提效同步成立——不是靠砍预算降费比。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43800" y="4526280"/>
            <a:ext cx="3200400" cy="10058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543800" y="4526280"/>
            <a:ext cx="320040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96200" y="4678680"/>
            <a:ext cx="289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平台联合增长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96200" y="4983480"/>
            <a:ext cx="289560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销售同比+10%/环比+4.4%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6200" y="5212080"/>
            <a:ext cx="2895600" cy="19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26年签订平台联合计划，Q2模型已跑通：可控费比+活动绑定→确定性销售增长。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0000" y="576072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Sans Medium"/>
              </a:defRPr>
            </a:pPr>
            <a:r>
              <a:t>同比=2026H1 vs 2025H1 | 环比=2026H1 vs 2025H2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H1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上半年总结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ROI环比+37%——H1效率修复最亮眼的数字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10515600" cy="320040"/>
          </a:xfrm>
          <a:prstGeom prst="roundRect">
            <a:avLst/>
          </a:prstGeom>
          <a:solidFill>
            <a:srgbClr val="B5EED7"/>
          </a:solidFill>
          <a:ln w="6350">
            <a:solidFill>
              <a:srgbClr val="6BD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B5563"/>
                </a:solidFill>
                <a:latin typeface="MiSans Medium"/>
              </a:defRPr>
            </a:pPr>
            <a:r>
              <a:t>⚠ 京东自营销售同比-15.8%，核心原因是市场大盘整体下滑，并非控费比导致。控费策略方向正确，H2需在合理费比内提升推广效果，驱动销售回升。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50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京东自营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472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472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-13.2%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9278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438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38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0000"/>
                </a:solidFill>
                <a:latin typeface="MiSans Semibold"/>
              </a:defRPr>
            </a:pPr>
            <a:r>
              <a:t>-15.8%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244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404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404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+25.6%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370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370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+37%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176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336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336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+0.34pt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142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02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02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-1.04pt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4268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4268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0000"/>
                </a:solidFill>
                <a:latin typeface="MiSans Semibold"/>
              </a:defRPr>
            </a:pPr>
            <a:r>
              <a:t>-15.8%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0740" y="34747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32340" y="35382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32340" y="37541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-8.1%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236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京东POP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0472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472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+3.2%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9278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438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438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-10.8%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8244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404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404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+29.3%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7210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7370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370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+38.5%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176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336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336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+0.14pt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5142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5302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5302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-0.58pt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108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4268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4268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+2.4%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30740" y="41605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32340" y="42240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32340" y="44399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-7.9%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4922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Mr.Green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0312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0472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消耗同比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0472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0000"/>
                </a:solidFill>
                <a:latin typeface="MiSans Semibold"/>
              </a:defRPr>
            </a:pPr>
            <a:r>
              <a:t>-19.3%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19278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438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消耗环比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9438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-7.2%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8244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404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ROI同比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404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+9.5%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7210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7370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ROI环比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7370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+6.4%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6176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6336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费比同比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336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-0.9pt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5142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5302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费比环比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5302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DCB0"/>
                </a:solidFill>
                <a:latin typeface="MiSans Semibold"/>
              </a:defRPr>
            </a:pPr>
            <a:r>
              <a:t>-0.68pt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64108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4268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销售同比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4268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0000"/>
                </a:solidFill>
                <a:latin typeface="MiSans Semibold"/>
              </a:defRPr>
            </a:pPr>
            <a:r>
              <a:t>-14.2%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730740" y="4846320"/>
            <a:ext cx="1051560" cy="5303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832340" y="4909820"/>
            <a:ext cx="87376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Sans Medium"/>
              </a:defRPr>
            </a:pPr>
            <a:r>
              <a:t>销售环比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32340" y="5125720"/>
            <a:ext cx="873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7706"/>
                </a:solidFill>
                <a:latin typeface="MiSans Semibold"/>
              </a:defRPr>
            </a:pPr>
            <a:r>
              <a:t>-2.8%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0000" y="6350000"/>
            <a:ext cx="10752000" cy="381000"/>
          </a:xfrm>
          <a:prstGeom prst="roundRect">
            <a:avLst/>
          </a:prstGeom>
          <a:solidFill>
            <a:srgbClr val="B5E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7000" y="6400800"/>
            <a:ext cx="1049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B5563"/>
                </a:solidFill>
                <a:latin typeface="MiSans Medium"/>
              </a:defRPr>
            </a:pPr>
            <a:r>
              <a:t>京东底线：H1效率修复已完成，H2必须恢复增长弹性——在守住ROI底线的同时，让核心品类和爆品重新扩量。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从一个人盯核心品，到系统盯全盘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背景：H1一人统筹多店铺多模式，精力只能盯核心品。H2通过推广助理+AI，把监控范围从核心品扩展到全品类×全计划。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37560"/>
            <a:ext cx="24231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337560"/>
            <a:ext cx="24231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0" y="3489960"/>
            <a:ext cx="2118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核心爆款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794760"/>
            <a:ext cx="21183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保排名·保转化·保预算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40" y="4023360"/>
            <a:ext cx="21183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看ROI环比/核心词排名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活动承接效果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消耗占60%+，最高优先级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337560"/>
            <a:ext cx="24231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337560"/>
            <a:ext cx="24231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5680" y="3489960"/>
            <a:ext cx="2118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潜力单品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680" y="3794760"/>
            <a:ext cx="21183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测人群·测素材·测场景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80" y="4023360"/>
            <a:ext cx="21183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看CPC/CVR/加购率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ROI趋势判断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每周评估是否升级为核心爆款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337560"/>
            <a:ext cx="24231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337560"/>
            <a:ext cx="24231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720" y="3489960"/>
            <a:ext cx="2118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新品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720" y="3794760"/>
            <a:ext cx="21183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小预算冷启·先跑模型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1720" y="4023360"/>
            <a:ext cx="21183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看点击率/加购率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素材胜出率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冷启周期≤14天，到期评估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3337560"/>
            <a:ext cx="242316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3337560"/>
            <a:ext cx="242316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47760" y="3489960"/>
            <a:ext cx="2118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中长尾品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7760" y="3794760"/>
            <a:ext cx="211836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低预算验证·快速止损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7760" y="4023360"/>
            <a:ext cx="21183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看ROI阈值/转化率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费用泄露排查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连续7天低于盈亏线→暂停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074920"/>
            <a:ext cx="329184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507492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640" y="522732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📊 数据监控模板升级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640" y="5532120"/>
            <a:ext cx="298704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制定多维复盘模板——周期复盘、及时发现问题调优、提效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640" y="5760720"/>
            <a:ext cx="29870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日看异常：AI自动扫描全平台数据，识别消耗/ROI/CPC/CVR波动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周看趋势：商品层级迁移监控+品类横向对比+费用泄露排查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月看结构：平台结构复盘→品类贡献度→预算再分配→策略调整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覆盖维度：平台→店铺→品类→商品→计划→关键词→人群→素材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核心价值：从事后「发现大问题」→过程「识别小异常」，调优前移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5074920"/>
            <a:ext cx="329184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507492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4360" y="522732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👥 人力分工升级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4360" y="5532120"/>
            <a:ext cx="298704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负责人从拉表中释放，投入策略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4360" y="5760720"/>
            <a:ext cx="29870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负责人：策略/预算分配/平台打法/关键决策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推广助理：数据整理/异常初筛/计划跟进/素材维护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协同SOP：助理早输出昨日扫描→负责人10分钟标注优先级→当日动作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铁蛋将承担天猫旗舰店日报监控和异常初筛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5074920"/>
            <a:ext cx="329184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6679" y="507492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79079" y="522732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🤖 AI工具提效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9079" y="5532120"/>
            <a:ext cx="298704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提速诊断，降低个人经验依赖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9079" y="5760720"/>
            <a:ext cx="29870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AI：数据处理+异常识别+趋势归因+策略草稿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人工：业务判断+动作取舍+执行落地+复盘纠偏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原则：AI出初稿，人工做终判——AI替代拉表，不替代判断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目标：团队无资深推广在场时也能快速获得标准化判断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推广的终局不是买流量，是帮品类找到增长路径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目标：通过投放数据反向输出经营建议——哪些品类值得加预算、哪些商品需要调价格、哪些页面承接有问题。让推广从成本中心变为增长参谋。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83280"/>
            <a:ext cx="324612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38328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0" y="3535680"/>
            <a:ext cx="294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① 数据反馈：识别机会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840480"/>
            <a:ext cx="2941320" cy="22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1. 按品类×商品监控ROI/CPC/CVR/点击率/收藏加购，建立趋势基线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2. 三类机会自动标记：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   🔼 低CPC高CVR → 建议放量扩投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   ⚠ 高点击低转化 → 承接问题，同步运营优化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   🔽 高消耗低ROI → 建议止损/收缩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3. 输出给运营：加预算的品类清单、需优化页面/价格/权益的商品清单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4. 从「感觉哪个品好」到「数据告诉哪个品好」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383280"/>
            <a:ext cx="324612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38328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3535680"/>
            <a:ext cx="294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② 组合打法：提升效率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80" y="3840480"/>
            <a:ext cx="2941320" cy="22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1. 搜索=承接明确需求（保转化）；推荐/场景=拓新人群（扩漏斗）；站外种草=补认知（蓄水）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2. 核心品：搜索+推荐联动，保排名保转化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   潜力品：小预算多场景测试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   新品：先内容种草再站内承接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3. 每类打法绑定复盘指标——不看动作看结果：花了多少钱、带来多少销售、ROI是否在改善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4. 沉淀「什么品类在什么阶段用什么打法」的可复用模型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383280"/>
            <a:ext cx="3246120" cy="2834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338328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0520" y="3535680"/>
            <a:ext cx="294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③ 经营协同：放大结果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0520" y="3840480"/>
            <a:ext cx="2941320" cy="225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1. 推广结论同步商品/运营/供应链：爆款备货提醒、价格竞争力分析、详情页转化率诊断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2. 大促前：推广+运营+商品+供应链联审货品池/预算池/资源位/页面承接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3. 沉淀品类推广打法库，形成可复用的方法论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4. 核心输出：品类增长建议表——让推广数据真正成为经营决策依据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天猫 / 京东 / 拼多多——差异化ROI标准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核心逻辑：不再用同一套ROI标准一刀切——天猫用可控费比换增长，京东在合理费比内提效+恢复规模，拼多多最小成本跑通方法。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32461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29184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0" y="3444240"/>
            <a:ext cx="294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天猫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749040"/>
            <a:ext cx="294132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可控费比换增长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40" y="3977640"/>
            <a:ext cx="294132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定位：品牌主阵地，市场份额承接渠道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策略：复制Q2联合投放模型——平台联合资源+活动节点+核心爆款，以可控高费比换确定性销售增长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动作：核心词卡位、推荐扩量、UD站外引流、内容种草回流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边界：高费比必须绑定活动目标+商品池+承接结果。Q2已验证，H2是复制+优化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关键指标：销售增速 vs ROI下滑幅度——不能只看ROI，也不能只看销售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91840"/>
            <a:ext cx="32461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29184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0080" y="3444240"/>
            <a:ext cx="294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京东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80" y="3749040"/>
            <a:ext cx="294132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合理费比内提效+恢复规模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80" y="3977640"/>
            <a:ext cx="294132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定位：效率修复已完成（ROI环比+37%），H2进入效率+规模平衡阶段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市场背景：H1销售-15.8%主因是行业大盘下滑，不是控费比导致——控费策略方向正确，但不补量份额会继续被蚕食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策略：在合理费比框架内做效果提升、驱动销售回升。不是"控费or放量"二选一，是换更有进攻性的控费目标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动作：关键词质量分优化、人群分层扩量、低效词清理、爆品预算保护——让有限预算产出更高销售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关键判断：控费≠不花钱，是花得更聪明。在合理费比区间内，效果提升就是最好的费比节省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291840"/>
            <a:ext cx="32461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3291840"/>
            <a:ext cx="324612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0520" y="3444240"/>
            <a:ext cx="2941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拼多多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520" y="3749040"/>
            <a:ext cx="294132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最小成本跑通方法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0520" y="3977640"/>
            <a:ext cx="294132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定位：9月接手，新增提效场——前两个月不追ROI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策略：先账户体检+商品分层+计划结构+投放规则搭建，再规模化提效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动作：搜索/场景基础计划搭建、可投商品池筛选、素材AB测试、ROI阈值+止损机制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边界：9-10月学习和验证为主，双11小规模参与，12月沉淀规则后做2027规划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节奏：9月诊断→10月测试→11月小规模验证→12月定规则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Voice of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组织升级部分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把个人经验拆成团队方法，降低对关键人员的依赖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核心命题：H1一个人盯全局的瓶颈已显现。H2从「个人能力驱动」→「团队+系统驱动」。铁蛋半年培养→转岗已验证方法论可复制。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3291840" cy="2697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29184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0" y="344424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📚 推广系统培训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749040"/>
            <a:ext cx="298704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MiSans Medium"/>
              </a:defRPr>
            </a:pPr>
            <a:r>
              <a:t>指导提升运营理论+实操能力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40" y="3977640"/>
            <a:ext cx="2987040" cy="188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理论基础：平台竞价机制、人群策略、商品分层逻辑、预算节奏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实操训练：计划搭建、关键词优化、素材AB测试、数据解读与归因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ROI/费比/CPC/CVR联动分析训练——从单指标看数字到多指标看关系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培训节奏：月度专题（平台规则+行业趋势+新工具）、周度案例复盘（最优/最差计划拆解+归因）、日常实操带教（助理独立承担→负责人校验）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验证案例：铁蛋从部门助理→推广助理→成功转岗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91840"/>
            <a:ext cx="3291840" cy="2697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29184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0080" y="344424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👥 负责人+助理协同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080" y="3749040"/>
            <a:ext cx="298704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负责人：平台策略、预算分配、关键账户诊断、跨部门协同——把时间花在判断上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助理：日报数据、异常初筛、计划跟进、素材/关键词维护——把重复劳动标准化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协同SOP：助理每天早上输出昨日异常扫描→负责人10分钟标注优先级→当天动作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铁蛋加入后将承担天猫旗舰店的日报监控和异常初筛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291840"/>
            <a:ext cx="3291840" cy="2697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329184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0520" y="344424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📋 方法论产品化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0520" y="3749040"/>
            <a:ext cx="298704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商品分层SOP：核心爆款/潜力/新品/中长尾→投放规则+预算比例+止损线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异常处理清单：ROI下滑/费比上升/CPC异常/CVR波动→排查路径+处置动作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复盘机制：周看计划级异常→月看平台结构→活动看商品承接→季度迭代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所有SOP统一归档推广知识库，新人可一周内上手基础监控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Voice of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组织升级部分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DCB0"/>
                </a:solidFill>
                <a:latin typeface="MiSans Medium"/>
              </a:defRPr>
            </a:pPr>
            <a:r>
              <a:t>AI不是替代判断，是让判断更快、更准、更标准化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核心逻辑：AI做数据处理+异常识别+策略草案——从拉表和排查中释放。人工做业务判断+动作取舍+执行+复盘——AI替代不了。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3291840" cy="2697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29184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640" y="344424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① AI多维数据处理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" y="3749040"/>
            <a:ext cx="298704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每天自动扫描全平台×全店铺×全品类×全计划数据，识别异常波动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从「人工拉表找问题」（周级、易遗漏）→「AI先筛异常，人工判断原因」（日级、全覆盖）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场景：每天早上9:00，AI自动输出昨日异常扫描报告，推送推广群，负责人10分钟标注优先级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91840"/>
            <a:ext cx="3291840" cy="2697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29184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344424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② AI快速定位核心问题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80" y="3749040"/>
            <a:ext cx="298704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由总到细下钻：平台概览→店铺对比→品类拆解→商品诊断→计划/关键词归因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核心指标模块化：消耗、ROI、CPC、CVR、点击率、加购率、转化率——异常自动标记+趋势预警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AI输出「可能原因」：流量成本变化/转化承接问题/预算节奏失衡/商品竞争力下降/活动资源不足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291840"/>
            <a:ext cx="3291840" cy="2697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3291840"/>
            <a:ext cx="3291840" cy="381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0520" y="3444240"/>
            <a:ext cx="298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③ AI专业策略输出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0520" y="3749040"/>
            <a:ext cx="2987040" cy="211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沉淀推广指令库：每种异常场景→分析指令+优化建议模板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运营提出组合问题（如：XX品类CPC上升但CVR没变）→AI生成策略草案→负责人校验→指导实操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▸ 价值：降低推广指导成本，团队无资深推广在场也能快速获得标准化判断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DCB0"/>
                </a:solidFill>
                <a:latin typeface="MiSans Semibold"/>
              </a:defRPr>
            </a:pPr>
            <a:r>
              <a:t>H2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1A2E"/>
                </a:solidFill>
                <a:latin typeface="MiSans Semibold"/>
              </a:defRPr>
            </a:pPr>
            <a:r>
              <a:t>下半年规划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H2主线：先建规则 → 接渠道 → 打大促 → 沉淀方法。每个阶段有可验收的产出。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640" y="3053080"/>
            <a:ext cx="216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BDCB0"/>
                </a:solidFill>
                <a:latin typeface="MiSans Semibold"/>
              </a:defRPr>
            </a:pPr>
            <a:r>
              <a:t>7-8月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640" y="3459480"/>
            <a:ext cx="2164080" cy="135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① 商品分层SOP+预算分配规则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② 推广助理+AI日/周监控上线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③ 天猫/京东H2预算+重点商品池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④ 周度复盘模板+异常处理清单v1.0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⑤ 推广系统培训第一期启动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92608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92608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400" y="3053080"/>
            <a:ext cx="216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BDCB0"/>
                </a:solidFill>
                <a:latin typeface="MiSans Semibold"/>
              </a:defRPr>
            </a:pPr>
            <a:r>
              <a:t>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3459480"/>
            <a:ext cx="2164080" cy="135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① 拼多多账户诊断报告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② 搜索/场景基础投放规则搭建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③ 双11预算框架+货品池初筛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④ 推广助理独立承担天猫日报监控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92608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92608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160" y="3053080"/>
            <a:ext cx="216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BDCB0"/>
                </a:solidFill>
                <a:latin typeface="MiSans Semibold"/>
              </a:defRPr>
            </a:pPr>
            <a:r>
              <a:t>10-11月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160" y="3459480"/>
            <a:ext cx="2164080" cy="135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① 双11执行：预算/爆品保护/止损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② 大促后复盘（平台×商品×素材）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③ 拼多多双11小规模验证报告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④ 品类增长建议表首次输出运营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2926080"/>
            <a:ext cx="246888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2926080"/>
            <a:ext cx="2468880" cy="508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4920" y="3053080"/>
            <a:ext cx="2164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BDCB0"/>
                </a:solidFill>
                <a:latin typeface="MiSans Semibold"/>
              </a:defRPr>
            </a:pPr>
            <a:r>
              <a:t>12月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4920" y="3459480"/>
            <a:ext cx="2164080" cy="135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① 年度推广手册v1.0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② AI指令库+品类打法库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③ 2027年预算与渠道规划建议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B5563"/>
                </a:solidFill>
                <a:latin typeface="MiSans Medium"/>
              </a:defRPr>
            </a:pPr>
            <a:r>
              <a:t>④ 团队能力评估+下年培养计划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3720" y="3840480"/>
            <a:ext cx="20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Medium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5480" y="3840480"/>
            <a:ext cx="20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Medium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7240" y="3840480"/>
            <a:ext cx="20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DCB0"/>
                </a:solidFill>
                <a:latin typeface="MiSans Medium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212080"/>
            <a:ext cx="1051560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5E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1368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DCB0"/>
                </a:solidFill>
                <a:latin typeface="MiSans Semibold"/>
              </a:defRPr>
            </a:pPr>
            <a:r>
              <a:t>协同机制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32780"/>
            <a:ext cx="11887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周度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732780"/>
            <a:ext cx="8686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推广与运营同步：助理每周一输出上周异常扫描+本周关注清单，负责人标注优先级后同步对应运营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64580"/>
            <a:ext cx="11887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月度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164580"/>
            <a:ext cx="8686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推广输出品类建议：基于月度数据复盘，输出品类增长建议表（含预算调整+商品优化建议），指导运营下月策略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596380"/>
            <a:ext cx="11887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DCB0"/>
                </a:solidFill>
                <a:latin typeface="MiSans Semibold"/>
              </a:defRPr>
            </a:pPr>
            <a:r>
              <a:t>大促前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596380"/>
            <a:ext cx="86868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B5563"/>
                </a:solidFill>
                <a:latin typeface="MiSans Medium"/>
              </a:defRPr>
            </a:pPr>
            <a:r>
              <a:t>四部门联审：推广+运营+商品+供应链：货品池+预算池+资源位+页面承接联合审查，确保全链路就位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"/>
            <a:ext cx="2011680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828800"/>
            <a:ext cx="1219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A1A2E"/>
                </a:solidFill>
                <a:latin typeface="MiSans Semibold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651760"/>
            <a:ext cx="3931920" cy="25400"/>
          </a:xfrm>
          <a:prstGeom prst="rect">
            <a:avLst/>
          </a:prstGeom>
          <a:solidFill>
            <a:srgbClr val="6BD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926080"/>
            <a:ext cx="1219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B5563"/>
                </a:solidFill>
                <a:latin typeface="MiSans Medium"/>
              </a:defRPr>
            </a:pPr>
            <a:r>
              <a:t>让增长更可控，让效率更稳定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66360"/>
            <a:ext cx="1219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Sans Medium"/>
              </a:defRPr>
            </a:pPr>
            <a:r>
              <a:t>国内营销中心  |  东方  |  2026.07.23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1887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6000" b="1">
                <a:solidFill>
                  <a:srgbClr val="B5EED7"/>
                </a:solidFill>
                <a:latin typeface="MiSans Semibold"/>
              </a:defRPr>
            </a:pPr>
            <a:r>
              <a:t>THX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