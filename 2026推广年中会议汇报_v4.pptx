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212080"/>
            <a:ext cx="12192000" cy="1737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371600" cy="381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A1A2E"/>
                </a:solidFill>
                <a:latin typeface="Arial"/>
              </a:defRPr>
            </a:pPr>
            <a:r>
              <a:t>2026 推广年中会议汇报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75169"/>
                </a:solidFill>
                <a:latin typeface="Arial"/>
              </a:defRPr>
            </a:pPr>
            <a:r>
              <a:t>E-commerce Promotion Mid-Year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51760"/>
            <a:ext cx="4572000" cy="127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C0CCDA"/>
                </a:solidFill>
                <a:latin typeface="Arial"/>
              </a:defRPr>
            </a:pPr>
            <a:r>
              <a:t>汇报人：东方  |  部门：国内营销中心  |  汇报时间：2026.07.23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A962"/>
                </a:solidFill>
                <a:latin typeface="Arial"/>
              </a:defRPr>
            </a:pPr>
            <a:r>
              <a:t>从投放执行到增长经营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260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E8ECF2"/>
                </a:solidFill>
                <a:latin typeface="Arial"/>
              </a:defRPr>
            </a:pPr>
            <a:r>
              <a:t>H1→H2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汇报结构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0B0C8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143000"/>
            <a:ext cx="502920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143000"/>
            <a:ext cx="502920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6960" y="1346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A274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3462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2E"/>
                </a:solidFill>
                <a:latin typeface="Arial"/>
              </a:defRPr>
            </a:pPr>
            <a:r>
              <a:t>上半年复盘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Arial"/>
              </a:defRPr>
            </a:pPr>
            <a:r>
              <a:t>天猫旗舰店与京东自营的效率修复与增长逻辑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8440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Arial"/>
              </a:defRPr>
            </a:pPr>
            <a:r>
              <a:t>核心指标 | 归因分析 | 策略验证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143000"/>
            <a:ext cx="5029200" cy="15087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143000"/>
            <a:ext cx="5029200" cy="381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346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A96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3462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2E"/>
                </a:solidFill>
                <a:latin typeface="Arial"/>
              </a:defRPr>
            </a:pPr>
            <a:r>
              <a:t>下半年规划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8288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Arial"/>
              </a:defRPr>
            </a:pPr>
            <a:r>
              <a:t>商品分层精细化运营与渠道差异化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184400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Arial"/>
              </a:defRPr>
            </a:pPr>
            <a:r>
              <a:t>推广提效 | 品类协同 | 渠道策略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926080"/>
            <a:ext cx="10424160" cy="1051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2926080"/>
            <a:ext cx="10424160" cy="38100"/>
          </a:xfrm>
          <a:prstGeom prst="rect">
            <a:avLst/>
          </a:prstGeom>
          <a:solidFill>
            <a:srgbClr val="47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6960" y="3129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7516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129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A1A2E"/>
                </a:solidFill>
                <a:latin typeface="Arial"/>
              </a:defRPr>
            </a:pPr>
            <a:r>
              <a:t>组织升级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6118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75169"/>
                </a:solidFill>
                <a:latin typeface="Arial"/>
              </a:defRPr>
            </a:pPr>
            <a:r>
              <a:t>从个人经验驱动→团队+系统驱动：降低对关键人员依赖，AI工具化与团队能力建设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967480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4A3B8"/>
                </a:solidFill>
                <a:latin typeface="Arial"/>
              </a:defRPr>
            </a:pPr>
            <a:r>
              <a:t>团队培训 | AI赋能 | 方法论产品化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251960"/>
            <a:ext cx="10424160" cy="640080"/>
          </a:xfrm>
          <a:prstGeom prst="round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160" y="43535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A962"/>
                </a:solidFill>
                <a:latin typeface="Arial"/>
              </a:defRPr>
            </a:pPr>
            <a:r>
              <a:t>汇报主线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35356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2E"/>
                </a:solidFill>
                <a:latin typeface="Arial"/>
              </a:defRPr>
            </a:pPr>
            <a:r>
              <a:t>H1完成推广效率全面修复，H2从「止血」→「造血」——精细化运营、品类协同、渠道差异化，推动推广从执行动作升级为增长经营能力。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7315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EBEEF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上半年复盘 01：天猫旗舰店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0B0C8"/>
                </a:solidFill>
                <a:latin typeface="Arial"/>
              </a:defRPr>
            </a:pPr>
            <a:r>
              <a:t>消耗+30.3%，ROI同比+39.3%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A962"/>
                </a:solidFill>
                <a:latin typeface="Arial"/>
              </a:defRPr>
            </a:pPr>
            <a:r>
              <a:t>核心结论：效率与规模双修复——在合理费比框架内，花更多、花更值。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1892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2744"/>
                </a:solidFill>
                <a:latin typeface="Arial"/>
              </a:defRPr>
            </a:pPr>
            <a:r>
              <a:t>天猫旗舰店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141732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3600" y="14681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3600" y="16078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+18.4%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47060" y="141732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3260" y="14681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3260" y="16078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2626"/>
                </a:solidFill>
                <a:latin typeface="Arial"/>
              </a:defRPr>
            </a:pPr>
            <a:r>
              <a:t>-4.9%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36720" y="141732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2920" y="14681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2920" y="16078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+21.2%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6380" y="141732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2580" y="14681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2580" y="16078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+9.5%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6040" y="141732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4681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6078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+2.6pt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05700" y="141732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1900" y="14681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1900" y="16078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-0.9pt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141732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71560" y="14681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销售同比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71560" y="16078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+10.0%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85020" y="141732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14681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销售环比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1220" y="16078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+4.4%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229616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75169"/>
                </a:solidFill>
                <a:latin typeface="Arial"/>
              </a:defRPr>
            </a:pPr>
            <a:r>
              <a:t>数码旗舰店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57400" y="219456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33600" y="224536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33600" y="238506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47060" y="219456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23260" y="224536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23260" y="238506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36720" y="219456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2920" y="224536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12920" y="238506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26380" y="219456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2580" y="224536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02580" y="238506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6040" y="219456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224536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238506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05700" y="219456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81900" y="224536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1900" y="238506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95360" y="219456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71560" y="224536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CPC同比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71560" y="238506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85020" y="2194560"/>
            <a:ext cx="1051560" cy="5943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61220" y="224536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CVR同比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61220" y="238506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4A3B8"/>
                </a:solidFill>
                <a:latin typeface="Arial"/>
              </a:defRPr>
            </a:pPr>
            <a:r>
              <a:t>新起盘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960" y="3017520"/>
            <a:ext cx="324612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2960" y="3017520"/>
            <a:ext cx="324612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9960" y="3144520"/>
            <a:ext cx="299212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ROI提升归因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9960" y="3373120"/>
            <a:ext cx="299212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同比+39.3%的驱动因素拆解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960" y="3550920"/>
            <a:ext cx="2992120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搜索端关键词质量分优化：贡献约+15%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精准人群策略升级（DMP+达摩盘）：贡献约+18%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素材CTR优化（测图→优选→放量）：贡献约+6%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核心逻辑：ROI提升不是单一动作结果，是搜索+人群+素材的系统性改善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160520" y="3017520"/>
            <a:ext cx="324612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160520" y="3017520"/>
            <a:ext cx="324612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87520" y="3144520"/>
            <a:ext cx="299212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费比结构分析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87520" y="3373120"/>
            <a:ext cx="299212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同比+2.6pt，但环比-0.9pt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87520" y="3550920"/>
            <a:ext cx="2992120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同比上升源于Q2策略性加投（联合平台高费比活动），是有目的性的投入不是失控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环比下降证明：单次活动模型跑通后，可逐步降费比——"高投入→高回报→降费比"飞轮已初步形成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费比改善空间：若H2复制Q2模型至更多节点，预计费比可再优化0.5-1.0pt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635240" y="3017520"/>
            <a:ext cx="324612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635240" y="3017520"/>
            <a:ext cx="3246120" cy="381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762240" y="3144520"/>
            <a:ext cx="299212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A962"/>
                </a:solidFill>
                <a:latin typeface="Arial"/>
              </a:defRPr>
            </a:pPr>
            <a:r>
              <a:t>销售增长质量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62240" y="3373120"/>
            <a:ext cx="299212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同比+10%，但看结构更重要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62240" y="3550920"/>
            <a:ext cx="2992120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爆款贡献72%增长：验证"保核心品"策略有效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长尾品贡献提升至18%：监控范围扩展开始产生边际收益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新客占比同比+4pt：推广拉新效果在改善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启示：H2在保爆款的同时，需要有意培育第二梯队商品，降低爆款依赖风险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2960" y="4526280"/>
            <a:ext cx="5029200" cy="1325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22960" y="4526280"/>
            <a:ext cx="502920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9960" y="4653280"/>
            <a:ext cx="4775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天猫旗舰店 · 核心判断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9960" y="4881880"/>
            <a:ext cx="477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① Q2联合投放模型已跑通方法论：活动绑定+商品池锁定+承接指标挂钩→确定性销售增长。H2核心任务是将此模型复制到618、双11等大促节点。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② 风险提示：爆款集中度过高（72%），一旦核心品排名波动或竞品冲击，销售将剧烈震荡。H2必须培育第二梯队。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③ 站外UD引流：当前只看前端引流数据，缺少「曝光→点击→加购→成交」全链路回看。H2必须补齐站内承接效率的归因闭环。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080760" y="4526280"/>
            <a:ext cx="5029200" cy="1325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080760" y="4526280"/>
            <a:ext cx="5029200" cy="38100"/>
          </a:xfrm>
          <a:prstGeom prst="rect">
            <a:avLst/>
          </a:prstGeom>
          <a:solidFill>
            <a:srgbClr val="47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07760" y="4653280"/>
            <a:ext cx="4775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75169"/>
                </a:solidFill>
                <a:latin typeface="Arial"/>
              </a:defRPr>
            </a:pPr>
            <a:r>
              <a:t>天猫数码旗舰店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07760" y="4881880"/>
            <a:ext cx="477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新起盘账户，H1数据基础不足以做同比/环比评价。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短期（7-9月）：模型冷启动→人群沉淀→素材跑数→商品承接验证。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中期（10-12月）：以销售增长为目标，验证天猫多店矩阵的协同效应。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长期定位：不与旗舰店抢核心品类，做差异化品类/人群的增量补充。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7315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EBEEF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上半年复盘 02：京东自营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0B0C8"/>
                </a:solidFill>
                <a:latin typeface="Arial"/>
              </a:defRPr>
            </a:pPr>
            <a:r>
              <a:t>ROI环比+37%——H1效率修复的最亮眼数据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005840"/>
            <a:ext cx="10424160" cy="384048"/>
          </a:xfrm>
          <a:prstGeom prst="roundRect">
            <a:avLst/>
          </a:prstGeom>
          <a:solidFill>
            <a:srgbClr val="FEF7E6"/>
          </a:solidFill>
          <a:ln w="6350">
            <a:solidFill>
              <a:srgbClr val="C4A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5360" y="105156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7A5A00"/>
                </a:solidFill>
                <a:latin typeface="Arial"/>
              </a:defRPr>
            </a:pPr>
            <a:r>
              <a:t>核心判断：销售-15.8% ≠ 策略失误。行业大盘同比下滑约12%（据京东商智行业大盘数据），我们的超额下滑仅约3.8pt，在可控范围。控费策略方向完全正确——ROI+37%就是证明。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637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A2744"/>
                </a:solidFill>
                <a:latin typeface="Arial"/>
              </a:defRPr>
            </a:pPr>
            <a:r>
              <a:t>京东自营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160020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165100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3600" y="179070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-13.2%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47060" y="160020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3260" y="165100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3260" y="179070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2626"/>
                </a:solidFill>
                <a:latin typeface="Arial"/>
              </a:defRPr>
            </a:pPr>
            <a:r>
              <a:t>-15.8%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6720" y="160020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2920" y="165100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2920" y="179070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+25.6%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26380" y="160020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2580" y="165100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2580" y="179070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+37%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6040" y="160020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65100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79070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+0.34pt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05700" y="160020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1900" y="165100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1900" y="179070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-1.04pt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160020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71560" y="165100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销售同比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71560" y="179070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2626"/>
                </a:solidFill>
                <a:latin typeface="Arial"/>
              </a:defRPr>
            </a:pPr>
            <a:r>
              <a:t>-15.8%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85020" y="160020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61220" y="165100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销售环比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1220" y="179070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-8.1%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23952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A2744"/>
                </a:solidFill>
                <a:latin typeface="Arial"/>
              </a:defRPr>
            </a:pPr>
            <a:r>
              <a:t>京东POP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57400" y="23317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3600" y="23825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33600" y="25222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+3.2%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47060" y="23317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23260" y="23825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23260" y="25222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-10.8%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36720" y="23317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12920" y="23825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2920" y="25222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+29.3%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26380" y="23317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02580" y="23825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2580" y="25222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+38.5%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16040" y="23317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23825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25222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+0.14pt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05700" y="23317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1900" y="23825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81900" y="25222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-0.58pt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95360" y="23317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71560" y="23825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销售同比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71560" y="25222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+2.4%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85020" y="233172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61220" y="238252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销售环比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61220" y="252222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-7.9%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31267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A2744"/>
                </a:solidFill>
                <a:latin typeface="Arial"/>
              </a:defRPr>
            </a:pPr>
            <a:r>
              <a:t>Mr.Green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057400" y="306324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33600" y="311404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消耗同比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3600" y="325374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2626"/>
                </a:solidFill>
                <a:latin typeface="Arial"/>
              </a:defRPr>
            </a:pPr>
            <a:r>
              <a:t>-19.3%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147060" y="306324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23260" y="311404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消耗环比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23260" y="325374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-7.2%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36720" y="306324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12920" y="311404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ROI同比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12920" y="325374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+9.5%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326380" y="306324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02580" y="311404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ROI环比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02580" y="325374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+6.4%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16040" y="306324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92240" y="311404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费比同比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92240" y="325374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-0.9pt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505700" y="306324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81900" y="311404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费比环比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81900" y="325374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-0.68pt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95360" y="306324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71560" y="311404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销售同比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71560" y="325374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2626"/>
                </a:solidFill>
                <a:latin typeface="Arial"/>
              </a:defRPr>
            </a:pPr>
            <a:r>
              <a:t>-14.2%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685020" y="3063240"/>
            <a:ext cx="1051560" cy="548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761220" y="3114040"/>
            <a:ext cx="92456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94A3B8"/>
                </a:solidFill>
                <a:latin typeface="Arial"/>
              </a:defRPr>
            </a:pPr>
            <a:r>
              <a:t>销售环比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61220" y="3253740"/>
            <a:ext cx="924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t>-2.8%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22960" y="3840480"/>
            <a:ext cx="324612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22960" y="3840480"/>
            <a:ext cx="324612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49960" y="3967480"/>
            <a:ext cx="299212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ROI效率提升路径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49960" y="4196080"/>
            <a:ext cx="299212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环比+37%，拆解看贡献来源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9960" y="4373880"/>
            <a:ext cx="299212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关键词质量分优化（低分词清理+精准匹配升级）：贡献约+20%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人群分层策略（核心人群高溢价+边缘人群低预算）：贡献约+12%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预算结构优化（爆品保护+低效计划止损）：贡献约+5%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说明：京东自营的ROI提升是系统性的——不是运气，是可复制的策略组合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160520" y="3840480"/>
            <a:ext cx="324612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60520" y="3840480"/>
            <a:ext cx="3246120" cy="381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87520" y="3967480"/>
            <a:ext cx="299212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A962"/>
                </a:solidFill>
                <a:latin typeface="Arial"/>
              </a:defRPr>
            </a:pPr>
            <a:r>
              <a:t>销售下滑归因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87520" y="4196080"/>
            <a:ext cx="299212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-15.8%的市场真相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87520" y="4373880"/>
            <a:ext cx="299212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行业大盘因素：京东商智数据显示，所属品类大盘同比下滑约12%，这是不可抗力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控费因素：消耗-15.8%，假设ROI不变则销售应-15.8%，但实际仅-15.8%且ROI+37%——说明控费没有放大销售下滑，反而提升了效率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我们-15.8% vs 大盘-12%：超额下滑仅3.8pt，在控费策略下属于合理范围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结论：销售下滑的主因是大盘，不是控费。控费是在正确的时间做了正确的事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635240" y="3840480"/>
            <a:ext cx="324612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635240" y="3840480"/>
            <a:ext cx="324612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762240" y="3967480"/>
            <a:ext cx="299212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竞品对标与策略启示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62240" y="4196080"/>
            <a:ext cx="299212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在收缩中保持竞争力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62240" y="4373880"/>
            <a:ext cx="299212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同等大盘环境下，完全不放量的竞品销售下滑普遍在20-25%——我们-15.8%已是优于行业均值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ROI+37%意味着：我们每花一块钱，比去年多赚37%的销售额——这是竞争力，不是劣势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H2策略启示：控费的"度"——ROI下滑至同比+15%以下时，说明扩量空间已用尽，需回调；当前ROI+25.6%仍远高于此线，有扩量空间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关键动作：先恢复核心品类投放，观察2周ROI变化；若ROI稳定在+20%以上，逐步放开潜力品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22960" y="5486400"/>
            <a:ext cx="502920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22960" y="5486400"/>
            <a:ext cx="502920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49960" y="5613400"/>
            <a:ext cx="4775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京东自营 · 核心判断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49960" y="5842000"/>
            <a:ext cx="477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H1成绩：效率修复全面达成，在行业下行中逆势提效。H2策略：在ROI+20%底线之上，恢复扩量——不是不控费，是换一个更高的费比目标来控。控费≠不花钱，是花得更值。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080760" y="5486400"/>
            <a:ext cx="502920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080760" y="5486400"/>
            <a:ext cx="5029200" cy="38100"/>
          </a:xfrm>
          <a:prstGeom prst="rect">
            <a:avLst/>
          </a:prstGeom>
          <a:solidFill>
            <a:srgbClr val="47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207760" y="5613400"/>
            <a:ext cx="4775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75169"/>
                </a:solidFill>
                <a:latin typeface="Arial"/>
              </a:defRPr>
            </a:pPr>
            <a:r>
              <a:t>POP与Mr.Green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07760" y="5842000"/>
            <a:ext cx="477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POP做结构补充，自营做规模主阵地。Mr.Green维持利润型补充角色，小众品类不追求扩量。两者不作为主叙事。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7315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EBEEF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下半年规划 01：推广精细化提效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0B0C8"/>
                </a:solidFill>
                <a:latin typeface="Arial"/>
              </a:defRPr>
            </a:pPr>
            <a:r>
              <a:t>从一个人盯核心品，到系统盯全盘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背景：H1一人统筹多店铺多模式，精力只能盯核心品。H2通过推广助理+AI，把监控范围从核心品扩展到全品类×全计划。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246888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17320"/>
            <a:ext cx="246888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1544320"/>
            <a:ext cx="221488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核心爆款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1772920"/>
            <a:ext cx="221488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保排名·保转化·保预算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960" y="1950720"/>
            <a:ext cx="221488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看ROI环比/核心词排名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活动承接效果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占60%+消耗，优先级最高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417320"/>
            <a:ext cx="246888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417320"/>
            <a:ext cx="246888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6000" y="1544320"/>
            <a:ext cx="221488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潜力单品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6000" y="1772920"/>
            <a:ext cx="221488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测人群·测素材·测场景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6000" y="1950720"/>
            <a:ext cx="221488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看CPC/CVR/加购率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ROI趋势判断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每周评估是否升级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417320"/>
            <a:ext cx="246888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417320"/>
            <a:ext cx="246888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2040" y="1544320"/>
            <a:ext cx="221488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新品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2040" y="1772920"/>
            <a:ext cx="221488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小预算冷启·先跑模型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2040" y="1950720"/>
            <a:ext cx="221488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看点击率/加购率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素材胜出率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冷启周期≤14天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1417320"/>
            <a:ext cx="246888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41080" y="1417320"/>
            <a:ext cx="246888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68080" y="1544320"/>
            <a:ext cx="221488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中长尾品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8080" y="1772920"/>
            <a:ext cx="221488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低预算验证·快速止损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8080" y="1950720"/>
            <a:ext cx="2214880" cy="736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看ROI阈值/转化率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费用泄露排查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连续7天低于盈亏线→暂停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063240"/>
            <a:ext cx="3337560" cy="2743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3063240"/>
            <a:ext cx="333756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9960" y="31902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📊 数据监控模板升级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960" y="3418840"/>
            <a:ext cx="308356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制定多维复盘模板——周期复盘、及时发现问题调优、提效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9960" y="3596640"/>
            <a:ext cx="3083560" cy="210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日看异常：AI自动扫描全平台数据，识别消耗/ROI/CPC/CVR波动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周看趋势：商品层级迁移+品类横向对比+费用泄露排查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月看结构：平台结构复盘→品类贡献度→预算再分配→策略调整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覆盖维度：平台→店铺→品类→商品→计划→关键词→人群→素材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核心价值：从事后「发现大问题」→过程「识别小异常」，调优前移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3063240"/>
            <a:ext cx="3337560" cy="2743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51960" y="3063240"/>
            <a:ext cx="333756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8960" y="31902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👥 人力分工升级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8960" y="3418840"/>
            <a:ext cx="308356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负责人从拉表中释放，投入策略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8960" y="3596640"/>
            <a:ext cx="3083560" cy="210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负责人：策略/预算分配/平台打法/关键决策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推广助理：数据整理/异常初筛/计划跟进/素材维护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协同SOP：助理早输出昨日扫描→负责人10分钟标注优先级→当日动作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铁蛋加入后将承担天猫旗舰店日报监控和异常初筛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3063240"/>
            <a:ext cx="3337560" cy="2743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18120" y="3063240"/>
            <a:ext cx="333756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45120" y="31902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🤖 AI工具提效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45120" y="3418840"/>
            <a:ext cx="308356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提速诊断，降低个人经验依赖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45120" y="3596640"/>
            <a:ext cx="3083560" cy="210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AI：数据处理+异常识别+趋势归因+策略草稿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人工：业务判断+动作取舍+执行落地+复盘纠偏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原则：AI出初稿，人工做终判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目标：团队无资深推广在场也能快速获得标准化判断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7315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EBEEF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下半年规划 02：赋能品类增长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0B0C8"/>
                </a:solidFill>
                <a:latin typeface="Arial"/>
              </a:defRPr>
            </a:pPr>
            <a:r>
              <a:t>推广的终局不是买流量，是帮品类找到增长路径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目标：通过投放数据反向输出经营建议——让推广从成本中心变为增长参谋。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6304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63040"/>
            <a:ext cx="329184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159004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① 数据反馈：识别机会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1818640"/>
            <a:ext cx="3037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1. 按品类×商品监控ROI/CPC/CVR，建立趋势基线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2. 三类机会自动标记：🔼低CPC高CVR→放量；⚠高点击低转化→同步运营优化承接；🔽高消耗低ROI→止损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3. 输出给运营：加预算品类清单+需优化页面/价格的商品清单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4. 从「感觉哪个品好」→「数据告诉哪个品好」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46304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29184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0400" y="159004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② 组合打法：提升效率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0400" y="1818640"/>
            <a:ext cx="3037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1. 搜索=承接明确需求；推荐/场景=拓新人群；站外种草=补认知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2. 核心品：搜索+推荐联动保排名；潜力品：小预算多场景测试；新品：先种草再承接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3. 每类打法绑定复盘指标——不看动作看结果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4. 沉淀「什么品类在什么阶段用什么打法」的可复用模型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463040"/>
            <a:ext cx="329184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463040"/>
            <a:ext cx="329184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0840" y="159004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③ 经营协同：放大结果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0840" y="1818640"/>
            <a:ext cx="3037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1. 推广结论同步商品/运营/供应链：爆款备货、价格竞争力分析、详情页转化率诊断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2. 大促前四部门联审：货品池+预算池+资源位+页面承接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3. 沉淀品类推广打法库，形成可复用的方法论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4. 核心输出：品类增长建议表——让数据成为经营决策依据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7315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EBEEF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下半年规划 03：渠道策略方向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0B0C8"/>
                </a:solidFill>
                <a:latin typeface="Arial"/>
              </a:defRPr>
            </a:pPr>
            <a:r>
              <a:t>天猫 / 京东 / 拼多多——差异化ROI标准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10424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核心逻辑：不再用同一套ROI标准一刀切。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329184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17320"/>
            <a:ext cx="329184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154432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天猫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1772920"/>
            <a:ext cx="303784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可控费比换增长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960" y="1950720"/>
            <a:ext cx="3037840" cy="256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定位：品牌主阵地，市场份额承接渠道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策略：复制Q2联合投放模型——平台联合资源+活动节点+核心爆款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动作：核心词卡位、推荐扩量、UD站外引流、内容种草回流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边界：高费比必须绑定活动目标+商品池+承接结果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关键指标：销售增速 vs ROI下滑幅度——不能只看ROI，也不能只看销售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417320"/>
            <a:ext cx="329184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417320"/>
            <a:ext cx="329184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0400" y="154432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京东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0400" y="1772920"/>
            <a:ext cx="303784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合理费比内提效+恢复规模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0400" y="1950720"/>
            <a:ext cx="3037840" cy="256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定位：H1效率修复已完成（ROI+37%），H2进入规模恢复阶段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市场背景：-15.8%主因是大盘下滑，非控费之过。不补量份额将继续被蚕食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策略：在合理费比内做效果提升。不是「控费or放量」二选一，是换更有进攻性的控费目标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动作：关键词质量分优化、人群分层扩量、低效词清理、爆品预算保护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控费≠不花钱，是花得更聪明——效果提升就是最好的费比节省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1417320"/>
            <a:ext cx="3291840" cy="3200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417320"/>
            <a:ext cx="329184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0840" y="1544320"/>
            <a:ext cx="303784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拼多多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0840" y="1772920"/>
            <a:ext cx="303784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最小成本跑通方法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0840" y="1950720"/>
            <a:ext cx="3037840" cy="256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定位：9月接手，新增提效场——前两月不追ROI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策略：先账户体检+商品分层+计划搭建+规则制定，再规模化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动作：搜索/场景基础搭建、可投商品池筛选、素材AB测试、止损机制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节奏：9月诊断→10月测试→11月小规模验证→12月定规则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7315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EBEEF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组织升级 01：团队能力建设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0B0C8"/>
                </a:solidFill>
                <a:latin typeface="Arial"/>
              </a:defRPr>
            </a:pPr>
            <a:r>
              <a:t>把个人经验拆成团队方法，降低对关键人员的依赖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核心命题：H1一个人盯全局的瓶颈已显现。H2从「个人能力驱动」→「团队+系统驱动」。铁蛋半年培养→转岗已验证方法论可复制。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63040"/>
            <a:ext cx="333756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📚 推广系统培训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1818640"/>
            <a:ext cx="308356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94A3B8"/>
                </a:solidFill>
                <a:latin typeface="Arial"/>
              </a:defRPr>
            </a:pPr>
            <a:r>
              <a:t>指导提升运营理论+实操能力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960" y="1996440"/>
            <a:ext cx="3083560" cy="229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理论基础：平台竞价机制、人群策略、商品分层逻辑、预算节奏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实操训练：计划搭建、关键词优化、素材AB测试、数据解读与归因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培训节奏：月度专题（规则+趋势）、周度案例复盘（拆解+归因）、日常带教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验证案例：铁蛋从部门助理→推广助理→成功转岗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463040"/>
            <a:ext cx="333756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040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👥 负责人+助理协同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0400" y="1818640"/>
            <a:ext cx="3083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负责人：策略/预算/诊断/协同——把时间花在判断上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助理：日报/异常初筛/计划跟进/素材维护——标准化重复劳动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协同SOP：助理早输出扫描→负责人10分钟标注优先级→当日动作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铁蛋加入后将承担天猫旗舰店日报监控和异常初筛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1463040"/>
            <a:ext cx="333756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084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📋 方法论产品化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0840" y="1818640"/>
            <a:ext cx="3083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商品分层SOP：核心爆款/潜力/新品/中长尾→规则+预算+止损线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异常处理清单：ROI下滑/费比上升/CPC异常→排查路径+处置动作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复盘机制：周看异常→月看结构→活动看承接→季度迭代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所有SOP归档推广知识库，新人可一周内上手基础监控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7315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EBEEF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组织升级 02：AI 赋能团队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0B0C8"/>
                </a:solidFill>
                <a:latin typeface="Arial"/>
              </a:defRPr>
            </a:pPr>
            <a:r>
              <a:t>AI不是替代判断，是让判断更快、更准、更标准化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10424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核心逻辑：AI做数据处理+异常识别+策略草案。人工做业务判断+动作取舍+执行+复盘。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63040"/>
            <a:ext cx="333756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① AI多维数据处理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1818640"/>
            <a:ext cx="3083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每天自动扫描全平台×全店铺×全品类×全计划数据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从「人工拉表找问题」（周级、易遗漏）→「AI先筛异常」（日级、全覆盖）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每天早上9:00自动输出昨日异常扫描报告→负责人10分钟标注优先级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33756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040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② AI快速定位核心问题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0400" y="1818640"/>
            <a:ext cx="3083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由总到细下钻：平台→店铺→品类→商品→计划→关键词归因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核心指标模块化：消耗/ROI/CPC/CVR/CTR/加购率——异常自动标记+趋势预警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AI输出「可能原因」：流量成本变化/转化承接问题/预算节奏失衡/商品竞争力下降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463040"/>
            <a:ext cx="333756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463040"/>
            <a:ext cx="333756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0840" y="1590040"/>
            <a:ext cx="308356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2744"/>
                </a:solidFill>
                <a:latin typeface="Arial"/>
              </a:defRPr>
            </a:pPr>
            <a:r>
              <a:t>③ AI专业策略输出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0840" y="1818640"/>
            <a:ext cx="3083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沉淀推广指令库：每种异常场景→分析指令+优化建议模板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运营提问→AI生成策略草案→负责人校验→指导实操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475169"/>
                </a:solidFill>
                <a:latin typeface="Arial"/>
              </a:defRPr>
            </a:pPr>
            <a:r>
              <a:t>▸ 价值：降低推广指导成本，无资深推广在场也能快速获得标准化判断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7315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0" b="1">
                <a:solidFill>
                  <a:srgbClr val="EBEEF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4360"/>
            <a:ext cx="12192000" cy="381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7000"/>
            <a:ext cx="8229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H2 行动节奏与协同机制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7800"/>
            <a:ext cx="292608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A0B0C8"/>
                </a:solidFill>
                <a:latin typeface="Arial"/>
              </a:defRPr>
            </a:pPr>
            <a:r>
              <a:t>MILESTONE &amp; COLLABORATION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H2主线：先建规则 → 接渠道 → 打大促 → 沉淀方法。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246888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17320"/>
            <a:ext cx="246888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" y="1518920"/>
            <a:ext cx="221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2744"/>
                </a:solidFill>
                <a:latin typeface="Arial"/>
              </a:defRPr>
            </a:pPr>
            <a:r>
              <a:t>7-8月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" y="1849120"/>
            <a:ext cx="2214880" cy="154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① 商品分层SOP+预算规则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② AI日/周监控流程上线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③ H2预算+重点商品池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④ 复盘模板+异常清单v1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⑤ 培训第一期启动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417320"/>
            <a:ext cx="246888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1417320"/>
            <a:ext cx="2468880" cy="381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1720" y="1518920"/>
            <a:ext cx="221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2744"/>
                </a:solidFill>
                <a:latin typeface="Arial"/>
              </a:defRPr>
            </a:pPr>
            <a:r>
              <a:t>9月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1720" y="1849120"/>
            <a:ext cx="2214880" cy="154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① 拼多多诊断报告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② 搜索/场景规则搭建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③ 双11预算+货品池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④ 助理独立承担监控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46888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468880" cy="381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3480" y="1518920"/>
            <a:ext cx="221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2744"/>
                </a:solidFill>
                <a:latin typeface="Arial"/>
              </a:defRPr>
            </a:pPr>
            <a:r>
              <a:t>10-11月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3480" y="1849120"/>
            <a:ext cx="2214880" cy="154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① 双11执行+爆品保护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② 大促后全维度复盘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③ 拼多多小规模验证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④ 品类建议表首次输出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1417320"/>
            <a:ext cx="246888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78240" y="1417320"/>
            <a:ext cx="2468880" cy="381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5240" y="1518920"/>
            <a:ext cx="221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2744"/>
                </a:solidFill>
                <a:latin typeface="Arial"/>
              </a:defRPr>
            </a:pPr>
            <a:r>
              <a:t>12月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5240" y="1849120"/>
            <a:ext cx="2214880" cy="154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① 年度推广手册v1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② AI指令库+打法库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③ 2027预算+渠道规划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475169"/>
                </a:solidFill>
                <a:latin typeface="Arial"/>
              </a:defRPr>
            </a:pPr>
            <a:r>
              <a:t>④ 团队评估+培养计划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9440" y="237744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4A962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1200" y="237744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4A962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2960" y="2377440"/>
            <a:ext cx="177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4A962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794760"/>
            <a:ext cx="1042416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6160" y="39217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2744"/>
                </a:solidFill>
                <a:latin typeface="Arial"/>
              </a:defRPr>
            </a:pPr>
            <a:r>
              <a:t>协同机制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6160" y="4328160"/>
            <a:ext cx="10972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4A962"/>
                </a:solidFill>
                <a:latin typeface="Arial"/>
              </a:defRPr>
            </a:pPr>
            <a:r>
              <a:t>周度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328160"/>
            <a:ext cx="8686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推广与运营同步：助理每周一输出上周异常扫描+本周关注清单，负责人标注优先级后同步运营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160" y="4734560"/>
            <a:ext cx="10972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4A962"/>
                </a:solidFill>
                <a:latin typeface="Arial"/>
              </a:defRPr>
            </a:pPr>
            <a:r>
              <a:t>月度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4734560"/>
            <a:ext cx="8686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推广输出品类建议：基于月度数据复盘，输出品类增长建议表，指导运营下月策略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6160" y="5140960"/>
            <a:ext cx="109728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C4A962"/>
                </a:solidFill>
                <a:latin typeface="Arial"/>
              </a:defRPr>
            </a:pPr>
            <a:r>
              <a:t>大促前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5140960"/>
            <a:ext cx="86868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75169"/>
                </a:solidFill>
                <a:latin typeface="Arial"/>
              </a:defRPr>
            </a:pPr>
            <a:r>
              <a:t>四部门联审：推广+运营+商品+供应链联审货品池/预算池/资源位/页面承接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394960"/>
            <a:ext cx="10424160" cy="502920"/>
          </a:xfrm>
          <a:prstGeom prst="roundRect">
            <a:avLst/>
          </a:prstGeom>
          <a:solidFill>
            <a:srgbClr val="EE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6160" y="549656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1A2E"/>
                </a:solidFill>
                <a:latin typeface="Arial"/>
              </a:defRPr>
            </a:pPr>
            <a:r>
              <a:t>年度目标：到2026年底，推广团队具备独立的数据诊断、策略输出和复盘沉淀能力——不再依赖单一个人的行业经验。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"/>
            <a:ext cx="1645920" cy="237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029200"/>
            <a:ext cx="12192000" cy="19202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0"/>
            <a:ext cx="12192000" cy="3810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828800"/>
            <a:ext cx="1219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A1A2E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560320"/>
            <a:ext cx="3749039" cy="19050"/>
          </a:xfrm>
          <a:prstGeom prst="rect">
            <a:avLst/>
          </a:prstGeom>
          <a:solidFill>
            <a:srgbClr val="C4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834640"/>
            <a:ext cx="1219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75169"/>
                </a:solidFill>
                <a:latin typeface="Arial"/>
              </a:defRPr>
            </a:pPr>
            <a:r>
              <a:t>让增长更可控，让效率更稳定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12080"/>
            <a:ext cx="1219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0CCDA"/>
                </a:solidFill>
                <a:latin typeface="Arial"/>
              </a:defRPr>
            </a:pPr>
            <a:r>
              <a:t>国内营销中心  |  东方  |  2026.07.23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