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200000"/>
            <a:ext cx="35000" cy="240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0000" y="120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100"/>
              </a:spcAft>
              <a:defRPr sz="4400" b="1">
                <a:solidFill>
                  <a:srgbClr val="F8FAFC"/>
                </a:solidFill>
                <a:latin typeface="微软雅黑"/>
              </a:defRPr>
            </a:pPr>
            <a:r>
              <a:t>2026 推广年中会议汇报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000" y="192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E-commerce Promotion Mid-Year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000" y="2320000"/>
            <a:ext cx="7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H1 平台复盘  /  H2 三大规划  /  组织升级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880000" y="2740000"/>
            <a:ext cx="6200000" cy="100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00" y="480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汇报人：东方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00" y="510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部门：国内营销中心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00" y="540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汇报时间：2026.07.23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2000" y="5838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3B82F6"/>
                </a:solidFill>
                <a:latin typeface="微软雅黑"/>
              </a:defRPr>
            </a:pPr>
            <a:r>
              <a:t>从投放执行到增长经营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上半年复盘：核心店铺数据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2026H1 vs 2025H1（同比）/ 2026H1 vs 2025H2（环比）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50000"/>
            <a:ext cx="10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重点分析店铺：天猫旗舰店、京东自营  |  ROI用数值，其他用百分比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50000"/>
            <a:ext cx="1550000" cy="102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000" y="1080000"/>
            <a:ext cx="13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F8FAFC"/>
                </a:solidFill>
                <a:latin typeface="微软雅黑"/>
              </a:defRPr>
            </a:pPr>
            <a:r>
              <a:t>天猫旗舰店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000" y="1370000"/>
            <a:ext cx="135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1">
                <a:solidFill>
                  <a:srgbClr val="3B82F6"/>
                </a:solidFill>
                <a:latin typeface="微软雅黑"/>
              </a:defRPr>
            </a:pPr>
            <a:r>
              <a:t>重点店铺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1600000"/>
            <a:ext cx="13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H1：以费换量，ROI修复明显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0000" y="95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0000" y="100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消耗同比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0000" y="112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+30.3%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5000" y="95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5000" y="100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消耗环比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5000" y="112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94A3B8"/>
                </a:solidFill>
                <a:latin typeface="微软雅黑"/>
              </a:defRPr>
            </a:pPr>
            <a:r>
              <a:t>-0.8%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10000" y="95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0000" y="100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ROI同比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0000" y="112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+39.3%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95000" y="95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5000" y="100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ROI环比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5000" y="112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+10.4%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0000" y="95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0000" y="100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费比同比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0000" y="112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+2.6pt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65000" y="95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5000" y="100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费比环比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5000" y="112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-0.9pt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0000" y="95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0000" y="100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销售同比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0000" y="112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+10.0%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35000" y="95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05000" y="100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销售环比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5000" y="112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+4.4%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2070000"/>
            <a:ext cx="1550000" cy="1020000"/>
          </a:xfrm>
          <a:prstGeom prst="roundRect">
            <a:avLst/>
          </a:prstGeom>
          <a:solidFill>
            <a:srgbClr val="783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000" y="2200000"/>
            <a:ext cx="13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F8FAFC"/>
                </a:solidFill>
                <a:latin typeface="微软雅黑"/>
              </a:defRPr>
            </a:pPr>
            <a:r>
              <a:t>京东自营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000" y="2490000"/>
            <a:ext cx="135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1">
                <a:solidFill>
                  <a:srgbClr val="F59E0B"/>
                </a:solidFill>
                <a:latin typeface="微软雅黑"/>
              </a:defRPr>
            </a:pPr>
            <a:r>
              <a:t>重点店铺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000" y="2720000"/>
            <a:ext cx="13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H1：控费显著，规模承压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40000" y="207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10000" y="212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消耗同比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10000" y="224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94A3B8"/>
                </a:solidFill>
                <a:latin typeface="微软雅黑"/>
              </a:defRPr>
            </a:pPr>
            <a:r>
              <a:t>-13.2%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5000" y="207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5000" y="212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消耗环比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95000" y="224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94A3B8"/>
                </a:solidFill>
                <a:latin typeface="微软雅黑"/>
              </a:defRPr>
            </a:pPr>
            <a:r>
              <a:t>-15.8%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10000" y="207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80000" y="212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ROI同比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80000" y="224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+25.3%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95000" y="207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5000" y="212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ROI环比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5000" y="224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+36.4%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80000" y="207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50000" y="212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费比同比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50000" y="224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+0.3pt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65000" y="207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35000" y="212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费比环比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35000" y="224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-1.0pt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50000" y="207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20000" y="212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销售同比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20000" y="224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EF4444"/>
                </a:solidFill>
                <a:latin typeface="微软雅黑"/>
              </a:defRPr>
            </a:pPr>
            <a:r>
              <a:t>-15.8%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35000" y="2070000"/>
            <a:ext cx="1050000" cy="48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05000" y="2120000"/>
            <a:ext cx="91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销售环比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05000" y="2240000"/>
            <a:ext cx="91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EF4444"/>
                </a:solidFill>
                <a:latin typeface="微软雅黑"/>
              </a:defRPr>
            </a:pPr>
            <a:r>
              <a:t>-8.1%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0000" y="3300000"/>
            <a:ext cx="5000000" cy="11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0000" y="3380000"/>
            <a:ext cx="40000" cy="2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000" y="3385000"/>
            <a:ext cx="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3B82F6"/>
                </a:solidFill>
                <a:latin typeface="微软雅黑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1370000" y="3385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F8FAFC"/>
                </a:solidFill>
                <a:latin typeface="微软雅黑"/>
              </a:defRPr>
            </a:pPr>
            <a:r>
              <a:t>天猫旗舰店：以费换量，ROI修复成立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0000" y="3680000"/>
            <a:ext cx="470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▸ ROI同比+39.3%、环比+10.4%，推广优化效果明确；消耗同比+30.3%，平台联合放量明显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▸ Q2联合平台签订高费比合同，ROI/CPC下滑可控的前提下，销售同比+9.6%、环比+24.4%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▸ H2重点：保爆款、控节奏、抢核心词，站外引流必须回看站内承接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▸ 同期新开设：天猫数码旗舰店（新起盘，轻预算测试）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20000" y="3300000"/>
            <a:ext cx="5300000" cy="11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70000" y="3380000"/>
            <a:ext cx="40000" cy="2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50000" y="3385000"/>
            <a:ext cx="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F59E0B"/>
                </a:solidFill>
                <a:latin typeface="微软雅黑"/>
              </a:defRPr>
            </a:pPr>
          </a:p>
        </p:txBody>
      </p:sp>
      <p:sp>
        <p:nvSpPr>
          <p:cNvPr id="72" name="TextBox 71"/>
          <p:cNvSpPr txBox="1"/>
          <p:nvPr/>
        </p:nvSpPr>
        <p:spPr>
          <a:xfrm>
            <a:off x="6570000" y="3385000"/>
            <a:ext cx="4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F8FAFC"/>
                </a:solidFill>
                <a:latin typeface="微软雅黑"/>
              </a:defRPr>
            </a:pPr>
            <a:r>
              <a:t>京东自营：控费显著，但规模弹性丧失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70000" y="3680000"/>
            <a:ext cx="500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▸ ROI同比+25.3%、环比+36.4%，H1推广优化效果非常明确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▸ 但销售同比-15.8%、环比-8.1%，说明控费已到临界点，不能只节流不开源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▸ H2重点：在高ROI计划中恢复核心品类扩量，关键词质量分、人群分层、爆品预算保护</a:t>
            </a:r>
          </a:p>
          <a:p>
            <a:pPr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▸ 京东POP、Mr.Green自营作为结构补充，ROI修复同样明确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0000" y="4650000"/>
            <a:ext cx="10752000" cy="4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0000" y="4700000"/>
            <a:ext cx="1035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3B82F6"/>
                </a:solidFill>
                <a:latin typeface="微软雅黑"/>
              </a:defRPr>
            </a:pPr>
            <a:r>
              <a:t>H1 核心判断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0000" y="4890000"/>
            <a:ext cx="10352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H1完成了推广效率的全面修复（ROI↑、费比↓），但京东销售弹性已丧失，H2必须从「止血」转向「造血」——在天猫用可控费比换确定性增长，在京东恢复效率与规模的平衡。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上半年复盘：体系成果与压力点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H1 除了数据之外，我们还建立了什么？还缺什么？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000" y="75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100"/>
              </a:spcAft>
              <a:defRPr sz="1800" b="1">
                <a:solidFill>
                  <a:srgbClr val="22C55E"/>
                </a:solidFill>
                <a:latin typeface="微软雅黑"/>
              </a:defRPr>
            </a:pPr>
            <a:r>
              <a:t>体系成果：从个人经验到团队能力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200000"/>
            <a:ext cx="10752000" cy="65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000" y="1200000"/>
            <a:ext cx="40000" cy="6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260000"/>
            <a:ext cx="32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推广系统培训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000" y="1480000"/>
            <a:ext cx="104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F8FAFC"/>
                </a:solidFill>
                <a:latin typeface="微软雅黑"/>
              </a:defRPr>
            </a:pPr>
            <a:r>
              <a:t>指导运营提升理论与实操能力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1660000"/>
            <a:ext cx="10492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让运营理解ROI/CPC/CVR联动关系，从只会建计划到会看趋势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1950000"/>
            <a:ext cx="10752000" cy="65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" y="1950000"/>
            <a:ext cx="40000" cy="6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000" y="2010000"/>
            <a:ext cx="32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3B82F6"/>
                </a:solidFill>
                <a:latin typeface="微软雅黑"/>
              </a:defRPr>
            </a:pPr>
            <a:r>
              <a:t>多维数据监控表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000" y="2230000"/>
            <a:ext cx="104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F8FAFC"/>
                </a:solidFill>
                <a:latin typeface="微软雅黑"/>
              </a:defRPr>
            </a:pPr>
            <a:r>
              <a:t>制定复盘模板，周期复盘、及时调优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000" y="2410000"/>
            <a:ext cx="10492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异常发现周期从「月度汇总」压缩到「周度扫描」，问题响应提速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700000"/>
            <a:ext cx="10752000" cy="65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2700000"/>
            <a:ext cx="40000" cy="65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000" y="2760000"/>
            <a:ext cx="32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8B5CF6"/>
                </a:solidFill>
                <a:latin typeface="微软雅黑"/>
              </a:defRPr>
            </a:pPr>
            <a:r>
              <a:t>推广新人培养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000" y="2980000"/>
            <a:ext cx="104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F8FAFC"/>
                </a:solidFill>
                <a:latin typeface="微软雅黑"/>
              </a:defRPr>
            </a:pPr>
            <a:r>
              <a:t>部门助理铁蛋，半年培养为推广助理并成功转岗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00" y="3160000"/>
            <a:ext cx="10492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验证了方法论可复制，证明了培养体系的有效性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000" y="295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100"/>
              </a:spcAft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当前最大压力点：制约提效的三个瓶颈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3350000"/>
            <a:ext cx="10752000" cy="52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0000" y="3350000"/>
            <a:ext cx="40000" cy="5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000" y="340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长尾品优化难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000" y="3610000"/>
            <a:ext cx="10492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虽设定了商品等级、抓重点商品，但1人统筹多店铺多模式，精力有限，长尾品和细分计划难以持续跟踪优化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3950000"/>
            <a:ext cx="10752000" cy="52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0000" y="3950000"/>
            <a:ext cx="40000" cy="52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000" y="400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EF4444"/>
                </a:solidFill>
                <a:latin typeface="微软雅黑"/>
              </a:defRPr>
            </a:pPr>
            <a:r>
              <a:t>数据分析工具缺失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000" y="4210000"/>
            <a:ext cx="10492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推广商品数据量大、维度多，缺少系统化、多维度的数据处理工具，人工拉表效率低、易遗漏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0000" y="4550000"/>
            <a:ext cx="10752000" cy="52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0000" y="4550000"/>
            <a:ext cx="40000" cy="52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000" y="460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EF4444"/>
                </a:solidFill>
                <a:latin typeface="微软雅黑"/>
              </a:defRPr>
            </a:pPr>
            <a:r>
              <a:t>全链路断层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000" y="4810000"/>
            <a:ext cx="10492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从发现问题→归因→策略→执行→复盘，缺少专业深度的全链路分析指导，决策依赖个人经验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5250000"/>
            <a:ext cx="10752000" cy="3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000" y="5290000"/>
            <a:ext cx="1035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这三个压力点，恰好是 H2 规划的方向：扩大监控范围 → 引入 AI 工具 → 建立标准化分析体系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下半年规划 01：推广精细化提效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从核心品类关注到全维度监控调优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50000"/>
            <a:ext cx="10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背景：H1仅1人统筹多店铺、多模式，长尾品难覆盖；H2通过推广助理+AI工具，将监控范围从核心品类扩展到全品类、全计划。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00000"/>
            <a:ext cx="2620000" cy="180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0000" y="1120000"/>
            <a:ext cx="23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3B82F6"/>
                </a:solidFill>
                <a:latin typeface="微软雅黑"/>
              </a:defRPr>
            </a:pPr>
            <a:r>
              <a:t>核心爆款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000" y="1420000"/>
            <a:ext cx="2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保排名·保转化·保预算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000" y="1680000"/>
            <a:ext cx="232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看 ROI环比、核心词排名、活动承接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1000000"/>
            <a:ext cx="2620000" cy="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10000" y="1000000"/>
            <a:ext cx="2620000" cy="1800000"/>
          </a:xfrm>
          <a:prstGeom prst="roundRect">
            <a:avLst/>
          </a:prstGeom>
          <a:solidFill>
            <a:srgbClr val="14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0000" y="1120000"/>
            <a:ext cx="23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22C55E"/>
                </a:solidFill>
                <a:latin typeface="微软雅黑"/>
              </a:defRPr>
            </a:pPr>
            <a:r>
              <a:t>潜力单品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000" y="1420000"/>
            <a:ext cx="2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测人群·测素材·测场景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0000" y="1680000"/>
            <a:ext cx="232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看 CPC、CVR、加购率、ROI趋势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10000" y="1000000"/>
            <a:ext cx="2620000" cy="4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0000" y="1000000"/>
            <a:ext cx="2620000" cy="1800000"/>
          </a:xfrm>
          <a:prstGeom prst="roundRect">
            <a:avLst/>
          </a:prstGeom>
          <a:solidFill>
            <a:srgbClr val="783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0000" y="1120000"/>
            <a:ext cx="23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F59E0B"/>
                </a:solidFill>
                <a:latin typeface="微软雅黑"/>
              </a:defRPr>
            </a:pPr>
            <a:r>
              <a:t>新品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0000" y="1420000"/>
            <a:ext cx="2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小预算冷启·先跑模型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0000" y="1680000"/>
            <a:ext cx="232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看 点击率、加购率、素材胜出率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1000000"/>
            <a:ext cx="2620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90000" y="1000000"/>
            <a:ext cx="2620000" cy="1800000"/>
          </a:xfrm>
          <a:prstGeom prst="roundRect">
            <a:avLst/>
          </a:prstGeom>
          <a:solidFill>
            <a:srgbClr val="3B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0000" y="1120000"/>
            <a:ext cx="23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8B5CF6"/>
                </a:solidFill>
                <a:latin typeface="微软雅黑"/>
              </a:defRPr>
            </a:pPr>
            <a:r>
              <a:t>中长尾品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0000" y="1420000"/>
            <a:ext cx="23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低预算验证·快速止损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0000" y="1680000"/>
            <a:ext cx="232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看 ROI阈值、转化率、费用泄露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0000" y="1000000"/>
            <a:ext cx="2620000" cy="4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6000" y="3000000"/>
            <a:ext cx="3400000" cy="185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6000" y="3000000"/>
            <a:ext cx="3400000" cy="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000" y="3120000"/>
            <a:ext cx="3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3B82F6"/>
                </a:solidFill>
                <a:latin typeface="微软雅黑"/>
              </a:defRPr>
            </a:pPr>
            <a:r>
              <a:t>1. 监控范围升级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000" y="3450000"/>
            <a:ext cx="304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过去：核心品类、爆款商品、主要账户优先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升级：平台→店铺→品类→商品→计划→关键词→人群→素材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目标：从「事后发现大问题」→「过程识别小异常」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96000" y="3000000"/>
            <a:ext cx="3400000" cy="1850000"/>
          </a:xfrm>
          <a:prstGeom prst="roundRect">
            <a:avLst/>
          </a:prstGeom>
          <a:solidFill>
            <a:srgbClr val="14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96000" y="3000000"/>
            <a:ext cx="3400000" cy="4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6000" y="3120000"/>
            <a:ext cx="3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22C55E"/>
                </a:solidFill>
                <a:latin typeface="微软雅黑"/>
              </a:defRPr>
            </a:pPr>
            <a:r>
              <a:t>2. 人力分工升级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6000" y="3450000"/>
            <a:ext cx="304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推广负责人：策略、预算、平台打法、关键决策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推广助理：数据整理、异常初筛、素材/计划跟进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目标：负责人从拉表中释放，投入策略与复盘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6000" y="3000000"/>
            <a:ext cx="3400000" cy="1850000"/>
          </a:xfrm>
          <a:prstGeom prst="roundRect">
            <a:avLst/>
          </a:prstGeom>
          <a:solidFill>
            <a:srgbClr val="3B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96000" y="3000000"/>
            <a:ext cx="3400000" cy="4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76000" y="3120000"/>
            <a:ext cx="3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8B5CF6"/>
                </a:solidFill>
                <a:latin typeface="微软雅黑"/>
              </a:defRPr>
            </a:pPr>
            <a:r>
              <a:t>3. AI工具提效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6000" y="3450000"/>
            <a:ext cx="304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AI：多维数据处理、异常识别、趋势归因、策略草案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人工：业务判断、动作取舍、执行落地、复盘纠偏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目标：提速诊断，降低对个人经验的依赖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000" y="5100000"/>
            <a:ext cx="10752000" cy="3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0000" y="5135000"/>
            <a:ext cx="1035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F8FAFC"/>
                </a:solidFill>
                <a:latin typeface="微软雅黑"/>
              </a:defRPr>
            </a:pPr>
            <a:r>
              <a:t>落地机制：日看异常 → 周看商品层级迁移 → 月看平台结构。助理负责数据+跟进，AI负责初筛+策略草案，负责人负责判断+关键动作。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下半年规划 02：赋能品类增长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推广组合打法+数据反馈，赋能品类销售增长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5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目标：推广不只是买流量——通过投放组合和数据反馈，帮助品类找到确定的增长路径，指导货品、价格、内容和活动节奏。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6000" y="1050000"/>
            <a:ext cx="3400000" cy="45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1180000"/>
            <a:ext cx="29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100"/>
              </a:spcAft>
              <a:defRPr sz="1900" b="1">
                <a:solidFill>
                  <a:srgbClr val="22C55E"/>
                </a:solidFill>
                <a:latin typeface="微软雅黑"/>
              </a:defRPr>
            </a:pPr>
            <a:r>
              <a:t>数据反馈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1450000"/>
            <a:ext cx="29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8FAFC"/>
                </a:solidFill>
                <a:latin typeface="微软雅黑"/>
              </a:defRPr>
            </a:pPr>
            <a:r>
              <a:t>识别机会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1800000"/>
            <a:ext cx="296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1. 按品类/商品监控 ROI、CPC、CVR、点击率、收藏加购趋势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2. 识别三类机会：低CPC高CVR→放量；高点击低转化→承接问题；高消耗低ROI→止损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3. 输出给运营：哪些品类加预算，哪些商品需优化页面/价格/权益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6000" y="1050000"/>
            <a:ext cx="3400000" cy="45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6000" y="1180000"/>
            <a:ext cx="29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100"/>
              </a:spcAft>
              <a:defRPr sz="1900" b="1">
                <a:solidFill>
                  <a:srgbClr val="3B82F6"/>
                </a:solidFill>
                <a:latin typeface="微软雅黑"/>
              </a:defRPr>
            </a:pPr>
            <a:r>
              <a:t>组合打法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6000" y="1450000"/>
            <a:ext cx="29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8FAFC"/>
                </a:solidFill>
                <a:latin typeface="微软雅黑"/>
              </a:defRPr>
            </a:pPr>
            <a:r>
              <a:t>提升效率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6000" y="1800000"/>
            <a:ext cx="296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1. 搜索承接明确需求，推荐/场景拓新人群，站外种草补认知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2. 核心品→搜索+推荐联动；潜力品→小预算多场景测试；新品→先内容种草再站内承接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3. 每类打法绑定复盘指标，不看动作看结果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6000" y="1050000"/>
            <a:ext cx="3400000" cy="45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6000" y="1180000"/>
            <a:ext cx="29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100"/>
              </a:spcAft>
              <a:defRPr sz="1900" b="1">
                <a:solidFill>
                  <a:srgbClr val="8B5CF6"/>
                </a:solidFill>
                <a:latin typeface="微软雅黑"/>
              </a:defRPr>
            </a:pPr>
            <a:r>
              <a:t>经营协同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6000" y="1450000"/>
            <a:ext cx="29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8FAFC"/>
                </a:solidFill>
                <a:latin typeface="微软雅黑"/>
              </a:defRPr>
            </a:pPr>
            <a:r>
              <a:t>放大结果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000" y="1800000"/>
            <a:ext cx="296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1. 推广结论同步商品/运营/供应链：爆款备货、价格策略、详情页承接、活动资源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2. 大促前货品池+预算池联审，避免有流量无库存/权益/承接</a:t>
            </a:r>
          </a:p>
          <a:p>
            <a:pPr>
              <a:lnSpc>
                <a:spcPts val="1539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3. 沉淀品类打法，形成可复用增长模型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5150000"/>
            <a:ext cx="10752000" cy="3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000" y="5190000"/>
            <a:ext cx="1035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8FAFC"/>
                </a:solidFill>
                <a:latin typeface="微软雅黑"/>
              </a:defRPr>
            </a:pPr>
            <a:r>
              <a:t>核心输出：从「投放复盘表」升级为「品类增长建议表」，让推广数据真正指导经营动作。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下半年规划 03：渠道策略方向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天猫 / 京东 / 拼多多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50000"/>
            <a:ext cx="10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核心逻辑：不再用同一套ROI标准一刀切，按平台角色分配目标、预算和考核指标。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000" y="1050000"/>
            <a:ext cx="3400000" cy="430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6000" y="1050000"/>
            <a:ext cx="3400000" cy="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000" y="117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100"/>
              </a:spcAft>
              <a:defRPr sz="2200" b="1">
                <a:solidFill>
                  <a:srgbClr val="3B82F6"/>
                </a:solidFill>
                <a:latin typeface="微软雅黑"/>
              </a:defRPr>
            </a:pPr>
            <a:r>
              <a:t>天猫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000" y="145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8FAFC"/>
                </a:solidFill>
                <a:latin typeface="微软雅黑"/>
              </a:defRPr>
            </a:pPr>
            <a:r>
              <a:t>可控费比换确定性增长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000" y="1800000"/>
            <a:ext cx="30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角色：品牌主阵地，市场份额承接渠道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策略：围绕平台联合资源+活动节点+核心爆款，阶段性接受较高费比换取曝光与销售增长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动作：核心词卡位、推荐扩量、UD站外引流、内容种草回流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边界：高费比必须绑定活动目标+商品池+承接结果，避免无目标放量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Q2验证：联合平台高费比合同，销售增长明显而ROI下滑可控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6000" y="1050000"/>
            <a:ext cx="3400000" cy="4300000"/>
          </a:xfrm>
          <a:prstGeom prst="roundRect">
            <a:avLst/>
          </a:prstGeom>
          <a:solidFill>
            <a:srgbClr val="783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6000" y="1050000"/>
            <a:ext cx="3400000" cy="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6000" y="117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100"/>
              </a:spcAft>
              <a:defRPr sz="2200" b="1">
                <a:solidFill>
                  <a:srgbClr val="F59E0B"/>
                </a:solidFill>
                <a:latin typeface="微软雅黑"/>
              </a:defRPr>
            </a:pPr>
            <a:r>
              <a:t>京东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6000" y="145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8FAFC"/>
                </a:solidFill>
                <a:latin typeface="微软雅黑"/>
              </a:defRPr>
            </a:pPr>
            <a:r>
              <a:t>从过度控费到效率规模平衡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6000" y="1800000"/>
            <a:ext cx="30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角色：效率修复与利润稳定渠道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策略：守住高ROI计划，同时恢复核心品类与爆品的扩量弹性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动作：关键词质量分、人群分层、低效词清理、爆品预算保护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边界：优先看ROI环比、费比环比、CPC/CVR变化，防止只控费不增长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核心矛盾：H1销售-16%，控费已到临界点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6000" y="1050000"/>
            <a:ext cx="3400000" cy="4300000"/>
          </a:xfrm>
          <a:prstGeom prst="roundRect">
            <a:avLst/>
          </a:prstGeom>
          <a:solidFill>
            <a:srgbClr val="3B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6000" y="1050000"/>
            <a:ext cx="3400000" cy="5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6000" y="117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100"/>
              </a:spcAft>
              <a:defRPr sz="2200" b="1">
                <a:solidFill>
                  <a:srgbClr val="8B5CF6"/>
                </a:solidFill>
                <a:latin typeface="微软雅黑"/>
              </a:defRPr>
            </a:pPr>
            <a:r>
              <a:t>拼多多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6000" y="145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8FAFC"/>
                </a:solidFill>
                <a:latin typeface="微软雅黑"/>
              </a:defRPr>
            </a:pPr>
            <a:r>
              <a:t>最小成本跑通方法论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6000" y="1800000"/>
            <a:ext cx="30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角色：9月接手后的新增提效场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策略：不急于规模放量，先完成账户体检、商品分层、计划结构搭建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动作：搜索/场景基础计划、可投商品池、素材测试、ROI阈值+止损机制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边界：先跑通方法，再放大预算，避免接手初期粗放消耗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节奏：9月诊断→10月测试→双11小规模验证→12月沉淀规则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5600000"/>
            <a:ext cx="10752000" cy="3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000" y="5640000"/>
            <a:ext cx="1035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渠道判断：天猫用可控费比换增长（看承接），京东从控费恢复到效率与规模平衡（补弹性），拼多多先建规则再规模化（控风险）。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组织升级 01：组织成员管理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能力建设 / 分工机制 / 降低关键人员依赖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50000"/>
            <a:ext cx="10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核心目标：把个人经验拆成团队可执行的方法，降低业务对单一关键人员行业经验的依赖。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6000" y="1050000"/>
            <a:ext cx="3400000" cy="45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000" y="118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能力短板→成长方向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000" y="1550000"/>
            <a:ext cx="300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当前：成员能做基础执行，但对平台机制、商品层级、预算节奏的判断不足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方向：从「会建计划、会调价」升级为「会看趋势、会归因、会判断扩量/止损」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重点：ROI/费比/CPC/CVR联动分析，商品池分层，活动与推广节奏匹配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6000" y="1050000"/>
            <a:ext cx="3400000" cy="45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6000" y="118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22C55E"/>
                </a:solidFill>
                <a:latin typeface="微软雅黑"/>
              </a:defRPr>
            </a:pPr>
            <a:r>
              <a:t>负责人+助理协同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000" y="1550000"/>
            <a:ext cx="300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负责人：平台策略、预算分配、关键账户诊断、跨部门协同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助理：日报数据、异常初筛、基础计划跟进、素材与关键词维护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协同：助理先筛异常→负责人判断优先级给动作→复盘沉淀为SOP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6000" y="1050000"/>
            <a:ext cx="3400000" cy="45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6000" y="118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8B5CF6"/>
                </a:solidFill>
                <a:latin typeface="微软雅黑"/>
              </a:defRPr>
            </a:pPr>
            <a:r>
              <a:t>标准沉淀：减少经验黑箱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6000" y="1550000"/>
            <a:ext cx="300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商品分层SOP：核心爆款/潜力单品/新品/中长尾品→对应投放规则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异常处理清单：ROI下滑/费比上升/CPC异常/CVR波动/消耗突增→排查路径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复盘机制：周看计划、月看平台、活动看商品与承接→经验转团队资产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5150000"/>
            <a:ext cx="10752000" cy="38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000" y="5190000"/>
            <a:ext cx="1035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组织升级的本质：不是增加人手，是用清晰分工+标准流程，把团队从「被动执行」推向「主动诊断、主动优化」。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组织升级 02：AI 赋能团队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AI策略与实际工作深度结合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5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目标：AI不替代推广判断，而是提升数据处理、问题定位和策略草案效率——AI出数据+策略草案，人工做业务判断+执行落地+复盘纠偏。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000" y="1100000"/>
            <a:ext cx="3400000" cy="32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6000" y="1100000"/>
            <a:ext cx="3400000" cy="45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000" y="123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8B5CF6"/>
                </a:solidFill>
                <a:latin typeface="微软雅黑"/>
              </a:defRPr>
            </a:pPr>
            <a:r>
              <a:t>AI多维数据处理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000" y="1600000"/>
            <a:ext cx="3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结构化平台/店铺/商品/计划/关键词数据，自动识别消耗、ROI、CPC、CVR异常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从「人工拉表找问题」→「AI先筛异常，人工判断原因」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优先落地：日报异常提醒 + 周度复盘摘要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6000" y="1100000"/>
            <a:ext cx="3400000" cy="32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6000" y="1100000"/>
            <a:ext cx="3400000" cy="45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6000" y="123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3B82F6"/>
                </a:solidFill>
                <a:latin typeface="微软雅黑"/>
              </a:defRPr>
            </a:pPr>
            <a:r>
              <a:t>AI快速定位核心问题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000" y="1600000"/>
            <a:ext cx="3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由总到细：平台→店铺→商品→计划→关键词，逐层下钻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建立核心指标模块：消耗/ROI/CPC/CVR/点击率/加购/转化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AI输出可能原因：流量成本、转化承接、预算节奏、商品竞争力、活动资源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6000" y="1100000"/>
            <a:ext cx="3400000" cy="32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6000" y="1100000"/>
            <a:ext cx="3400000" cy="45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6000" y="123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22C55E"/>
                </a:solidFill>
                <a:latin typeface="微软雅黑"/>
              </a:defRPr>
            </a:pPr>
            <a:r>
              <a:t>AI专业策略输出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6000" y="1600000"/>
            <a:ext cx="3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沉淀推广指令库：不同异常场景→对应分析指令+优化建议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运营提组合问题→AI生成策略草案→负责人校验→指导实操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降低推广指导成本，让团队更快形成标准化判断能力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4600000"/>
            <a:ext cx="10752000" cy="4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000" y="4650000"/>
            <a:ext cx="1035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8FAFC"/>
                </a:solidFill>
                <a:latin typeface="微软雅黑"/>
              </a:defRPr>
            </a:pPr>
            <a:r>
              <a:t>AI闭环：数据清洗 → 异常识别 → 策略草案 → 人工判断 → 执行复盘 → 指令库沉淀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H2 行动节奏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50000"/>
            <a:ext cx="10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先建规则 → 接渠道 → 打大促 → 沉淀方法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00" y="1050000"/>
            <a:ext cx="2550000" cy="1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000" y="1050000"/>
            <a:ext cx="2550000" cy="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000" y="1190000"/>
            <a:ext cx="21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7-8月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000" y="1600000"/>
            <a:ext cx="219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完善商品分层规则、周度复盘模板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明确天猫/京东预算阈值+重点商品池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推广助理+AI工具落地，跑通日/周监控流程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000" y="1050000"/>
            <a:ext cx="2550000" cy="1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000" y="1050000"/>
            <a:ext cx="2550000" cy="5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6000" y="1190000"/>
            <a:ext cx="21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8B5CF6"/>
                </a:solidFill>
                <a:latin typeface="微软雅黑"/>
              </a:defRPr>
            </a:pPr>
            <a:r>
              <a:t>9月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6000" y="1600000"/>
            <a:ext cx="219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接手拼多多，账户诊断+商品分层+计划结构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搜索/场景基础投放规则搭建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双11预算框架+货品池初筛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6000" y="1050000"/>
            <a:ext cx="2550000" cy="1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6000" y="1050000"/>
            <a:ext cx="2550000" cy="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6000" y="1190000"/>
            <a:ext cx="21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10-11月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6000" y="1600000"/>
            <a:ext cx="219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双11预算节奏执行：爆品保护、低效止损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大促后复盘：平台/商品/素材/承接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输出大促推广复盘报告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6000" y="1050000"/>
            <a:ext cx="2550000" cy="1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6000" y="1050000"/>
            <a:ext cx="2550000" cy="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6000" y="1190000"/>
            <a:ext cx="21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22C55E"/>
                </a:solidFill>
                <a:latin typeface="微软雅黑"/>
              </a:defRPr>
            </a:pPr>
            <a:r>
              <a:t>12月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6000" y="1600000"/>
            <a:ext cx="219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沉淀年度推广手册+AI指令库+品类打法库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输出2027年预算与渠道规划建议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• 团队年度能力评估与下一年培养计划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16000" y="1800000"/>
            <a:ext cx="1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64748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6000" y="1800000"/>
            <a:ext cx="1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64748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6000" y="1800000"/>
            <a:ext cx="1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64748B"/>
                </a:solidFill>
                <a:latin typeface="微软雅黑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团队协同机制与补充建议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000" y="8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协同机制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200000"/>
            <a:ext cx="10752000" cy="6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000" y="1200000"/>
            <a:ext cx="45000" cy="60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000" y="1250000"/>
            <a:ext cx="2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3B82F6"/>
                </a:solidFill>
                <a:latin typeface="微软雅黑"/>
              </a:defRPr>
            </a:pPr>
            <a:r>
              <a:t>周度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000" y="1470000"/>
            <a:ext cx="10452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推广与运营同步异常+动作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000" y="1630000"/>
            <a:ext cx="10452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推广助理输出周度异常扫描，负责人标注优先级，同步给对应运营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1900000"/>
            <a:ext cx="10752000" cy="6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" y="1900000"/>
            <a:ext cx="45000" cy="60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000" y="1950000"/>
            <a:ext cx="2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22C55E"/>
                </a:solidFill>
                <a:latin typeface="微软雅黑"/>
              </a:defRPr>
            </a:pPr>
            <a:r>
              <a:t>月度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000" y="2170000"/>
            <a:ext cx="10452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推广输出品类增长建议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000" y="2330000"/>
            <a:ext cx="10452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基于月度数据复盘，输出品类增长建议表，指导运营调整商品策略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600000"/>
            <a:ext cx="10752000" cy="6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2600000"/>
            <a:ext cx="45000" cy="6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000" y="2650000"/>
            <a:ext cx="2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F59E0B"/>
                </a:solidFill>
                <a:latin typeface="微软雅黑"/>
              </a:defRPr>
            </a:pPr>
            <a:r>
              <a:t>大促前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" y="2870000"/>
            <a:ext cx="10452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四部门联审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000" y="3030000"/>
            <a:ext cx="10452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推广+运营+商品+供应链：货品池、预算池、资源位、页面承接联审，避免流量到位但承接不足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000" y="34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8B5CF6"/>
                </a:solidFill>
                <a:latin typeface="微软雅黑"/>
              </a:defRPr>
            </a:pPr>
            <a:r>
              <a:t>补充建议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3800000"/>
            <a:ext cx="10752000" cy="52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0000" y="3800000"/>
            <a:ext cx="40000" cy="52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000" y="3850000"/>
            <a:ext cx="10492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8B5CF6"/>
                </a:solidFill>
                <a:latin typeface="微软雅黑"/>
              </a:defRPr>
            </a:pPr>
            <a:r>
              <a:t>建立推广知识库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000" y="4070000"/>
            <a:ext cx="10492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将商品分层SOP、异常处理清单、AI指令库、复盘模板统一归档，新人可快速上手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000" y="4400000"/>
            <a:ext cx="10752000" cy="52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0000" y="4400000"/>
            <a:ext cx="40000" cy="5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000" y="4450000"/>
            <a:ext cx="10492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3B82F6"/>
                </a:solidFill>
                <a:latin typeface="微软雅黑"/>
              </a:defRPr>
            </a:pPr>
            <a:r>
              <a:t>跨部门数据打通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000" y="4670000"/>
            <a:ext cx="10492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推动推广数据与商品库存、供应链、财务数据的联动，让推广决策有更完整的经营视角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0000" y="5000000"/>
            <a:ext cx="10752000" cy="52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0000" y="5000000"/>
            <a:ext cx="40000" cy="52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000" y="5050000"/>
            <a:ext cx="10492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22C55E"/>
                </a:solidFill>
                <a:latin typeface="微软雅黑"/>
              </a:defRPr>
            </a:pPr>
            <a:r>
              <a:t>季度推广策略会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000" y="5270000"/>
            <a:ext cx="10492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每季度组织一次推广策略复盘与规划会，推广+运营+品类共同参与，形成策略共识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00000"/>
            <a:ext cx="12192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80"/>
              </a:lnSpc>
              <a:spcAft>
                <a:spcPts val="100"/>
              </a:spcAft>
              <a:defRPr sz="5400" b="1">
                <a:solidFill>
                  <a:srgbClr val="F8FAFC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6000" y="3100000"/>
            <a:ext cx="3800000" cy="2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350000"/>
            <a:ext cx="1219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100"/>
              </a:spcAft>
              <a:defRPr sz="1700" b="0">
                <a:solidFill>
                  <a:srgbClr val="94A3B8"/>
                </a:solidFill>
                <a:latin typeface="微软雅黑"/>
              </a:defRPr>
            </a:pPr>
            <a:r>
              <a:t>让增长更可控，让效率更稳定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00000"/>
            <a:ext cx="1219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国内营销中心  |  东方  |  2026.07.23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